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59" r:id="rId5"/>
    <p:sldId id="263" r:id="rId6"/>
    <p:sldId id="264"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91" d="100"/>
          <a:sy n="91" d="100"/>
        </p:scale>
        <p:origin x="341" y="6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711045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Good morning/afternoon everyone. Today, I am presenting MediFlow, an intelligent healthcare management and clinical decision support system. Modern healthcare requires more than just digital appointment books; it demands a unified platform that connects patients, doctors, and hospital administrators while providing explainable AI risk assessments to assist clinical decisions without replacing clinician judgment.</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we highlight the three critical pain points in modern healthcare IT. First, disconnected software causes clinical records to get siloed, leading to clinician burnout. Second, scheduling tools frequently cause overlapping appointments and high no-show rates. And third, while AI is gaining traction, most existing models act as black boxes without providing doctors with explainability or clinical safeguards. MediFlow directly addresses all three challenges.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MediFlow solves these challenges by providing three tailored interfaces unified by a single secure backend. Patients gain full ownership over their appointments and health records. Doctors get an intuitive clinical suite to record vitals, generate digital prescriptions, and view AI risk metrics. And administrators gain complete oversight over hospital operations and security compliance.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Here we clearly separate our Functional Requirements from our Non-Functional Quality Attributes. Functionally, the system must support end-to-end appointment scheduling, electronic medical records, and on-demand AI risk inference. Non-functionally, we prioritize data privacy, sub-second API latencies, relational ACID consistency in PostgreSQL, and complete auditability for healthcare regulatory compliance.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conclusion, MediFlow successfully bridges the gap between everyday hospital administration and explainable clinical artificial intelligence. It eliminates administrative overhead, avoids scheduling conflicts, and provides doctors with trusted, explainable decision support. Our roadmap includes expanding into deep learning for medical imaging, clinical NLP for lab reports, and FHIR interoperability. Thank you, and I am now open to your questions.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1097280"/>
            <a:ext cx="10728655" cy="4846320"/>
          </a:xfrm>
          <a:prstGeom prst="roundRect">
            <a:avLst/>
          </a:prstGeom>
          <a:solidFill>
            <a:srgbClr val="FFFFFF"/>
          </a:solidFill>
          <a:ln w="1524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1280160" y="1554480"/>
            <a:ext cx="3291840" cy="365760"/>
          </a:xfrm>
          <a:prstGeom prst="roundRect">
            <a:avLst/>
          </a:prstGeom>
          <a:solidFill>
            <a:srgbClr val="F0FDFA"/>
          </a:solidFill>
          <a:ln w="127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F766E"/>
                </a:solidFill>
                <a:latin typeface="Arial"/>
              </a:defRPr>
            </a:pPr>
            <a:r>
              <a:t>HEALTHCARE SAAS &amp; CLINICAL AI</a:t>
            </a:r>
          </a:p>
        </p:txBody>
      </p:sp>
      <p:sp>
        <p:nvSpPr>
          <p:cNvPr id="6" name="TextBox 5"/>
          <p:cNvSpPr txBox="1"/>
          <p:nvPr/>
        </p:nvSpPr>
        <p:spPr>
          <a:xfrm>
            <a:off x="1280160" y="2057400"/>
            <a:ext cx="9601200" cy="1097280"/>
          </a:xfrm>
          <a:prstGeom prst="rect">
            <a:avLst/>
          </a:prstGeom>
          <a:noFill/>
        </p:spPr>
        <p:txBody>
          <a:bodyPr wrap="square" lIns="0" tIns="0" rIns="0" bIns="0">
            <a:spAutoFit/>
          </a:bodyPr>
          <a:lstStyle/>
          <a:p>
            <a:pPr>
              <a:defRPr sz="4400" b="1">
                <a:solidFill>
                  <a:srgbClr val="0F172A"/>
                </a:solidFill>
                <a:latin typeface="Arial"/>
              </a:defRPr>
            </a:pPr>
            <a:r>
              <a:t>MediFlow</a:t>
            </a:r>
          </a:p>
        </p:txBody>
      </p:sp>
      <p:sp>
        <p:nvSpPr>
          <p:cNvPr id="7" name="TextBox 6"/>
          <p:cNvSpPr txBox="1"/>
          <p:nvPr/>
        </p:nvSpPr>
        <p:spPr>
          <a:xfrm>
            <a:off x="1280160" y="3108960"/>
            <a:ext cx="9601200" cy="548640"/>
          </a:xfrm>
          <a:prstGeom prst="rect">
            <a:avLst/>
          </a:prstGeom>
          <a:noFill/>
        </p:spPr>
        <p:txBody>
          <a:bodyPr wrap="square" lIns="0" tIns="0" rIns="0" bIns="0">
            <a:spAutoFit/>
          </a:bodyPr>
          <a:lstStyle/>
          <a:p>
            <a:pPr>
              <a:defRPr sz="2200" b="1">
                <a:solidFill>
                  <a:srgbClr val="0D9488"/>
                </a:solidFill>
                <a:latin typeface="Arial"/>
              </a:defRPr>
            </a:pPr>
            <a:r>
              <a:rPr dirty="0"/>
              <a:t>Intelligent Healthcare Management &amp; Decision Support System</a:t>
            </a:r>
          </a:p>
        </p:txBody>
      </p:sp>
      <p:sp>
        <p:nvSpPr>
          <p:cNvPr id="8" name="TextBox 7"/>
          <p:cNvSpPr txBox="1"/>
          <p:nvPr/>
        </p:nvSpPr>
        <p:spPr>
          <a:xfrm>
            <a:off x="1280160" y="3749039"/>
            <a:ext cx="9601200" cy="457200"/>
          </a:xfrm>
          <a:prstGeom prst="rect">
            <a:avLst/>
          </a:prstGeom>
          <a:noFill/>
        </p:spPr>
        <p:txBody>
          <a:bodyPr wrap="square" lIns="0" tIns="0" rIns="0" bIns="0">
            <a:spAutoFit/>
          </a:bodyPr>
          <a:lstStyle/>
          <a:p>
            <a:pPr>
              <a:defRPr sz="1400">
                <a:solidFill>
                  <a:srgbClr val="475569"/>
                </a:solidFill>
                <a:latin typeface="Arial"/>
              </a:defRPr>
            </a:pPr>
            <a:r>
              <a:rPr dirty="0"/>
              <a:t>Unifying Multi-Role Hospital Operations with Responsible, Explainable Clinical AI</a:t>
            </a:r>
          </a:p>
        </p:txBody>
      </p:sp>
      <p:sp>
        <p:nvSpPr>
          <p:cNvPr id="9" name="Rounded Rectangle 8"/>
          <p:cNvSpPr/>
          <p:nvPr/>
        </p:nvSpPr>
        <p:spPr>
          <a:xfrm>
            <a:off x="1280160" y="4389120"/>
            <a:ext cx="3840480" cy="109728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wrap="square" lIns="182880" tIns="164592" rtlCol="0" anchor="ctr"/>
          <a:lstStyle/>
          <a:p>
            <a:pPr algn="ctr">
              <a:defRPr sz="950" b="1">
                <a:solidFill>
                  <a:srgbClr val="0D9488"/>
                </a:solidFill>
                <a:latin typeface="Arial"/>
              </a:defRPr>
            </a:pPr>
            <a:r>
              <a:t>ARCHITECTURE &amp; IMPLEMENTATION</a:t>
            </a:r>
          </a:p>
          <a:p>
            <a:pPr>
              <a:defRPr sz="1100" b="1">
                <a:solidFill>
                  <a:srgbClr val="0F172A"/>
                </a:solidFill>
                <a:latin typeface="Arial"/>
              </a:defRPr>
            </a:pPr>
            <a:r>
              <a:t>React.js • FastAPI • PostgreSQL • Scikit-learn</a:t>
            </a:r>
          </a:p>
        </p:txBody>
      </p:sp>
      <p:sp>
        <p:nvSpPr>
          <p:cNvPr id="10" name="Rounded Rectangle 9"/>
          <p:cNvSpPr/>
          <p:nvPr/>
        </p:nvSpPr>
        <p:spPr>
          <a:xfrm>
            <a:off x="5303520" y="4389120"/>
            <a:ext cx="3840480" cy="109728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wrap="square" lIns="182880" tIns="164592" rtlCol="0" anchor="ctr"/>
          <a:lstStyle/>
          <a:p>
            <a:pPr algn="ctr">
              <a:defRPr sz="950" b="1">
                <a:solidFill>
                  <a:srgbClr val="0284C7"/>
                </a:solidFill>
                <a:latin typeface="Arial"/>
              </a:defRPr>
            </a:pPr>
            <a:r>
              <a:t>PROJECT SCOPE &amp; TARGET</a:t>
            </a:r>
          </a:p>
          <a:p>
            <a:pPr>
              <a:defRPr sz="1100" b="1">
                <a:solidFill>
                  <a:srgbClr val="0F172A"/>
                </a:solidFill>
                <a:latin typeface="Arial"/>
              </a:defRPr>
            </a:pPr>
            <a:r>
              <a:t>Full-Stack Engineering &amp; Decision-Support System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365760"/>
            <a:ext cx="9144000" cy="320040"/>
          </a:xfrm>
          <a:prstGeom prst="rect">
            <a:avLst/>
          </a:prstGeom>
          <a:noFill/>
        </p:spPr>
        <p:txBody>
          <a:bodyPr wrap="square" lIns="0" tIns="0" rIns="0" bIns="0">
            <a:spAutoFit/>
          </a:bodyPr>
          <a:lstStyle/>
          <a:p>
            <a:pPr>
              <a:defRPr sz="1050" b="1">
                <a:solidFill>
                  <a:srgbClr val="0D9488"/>
                </a:solidFill>
                <a:latin typeface="Arial"/>
              </a:defRPr>
            </a:pPr>
            <a:r>
              <a:t>CURRENT INDUSTRY CHALLENGES</a:t>
            </a:r>
          </a:p>
        </p:txBody>
      </p:sp>
      <p:sp>
        <p:nvSpPr>
          <p:cNvPr id="5" name="TextBox 4"/>
          <p:cNvSpPr txBox="1"/>
          <p:nvPr/>
        </p:nvSpPr>
        <p:spPr>
          <a:xfrm>
            <a:off x="731520" y="658368"/>
            <a:ext cx="9601200" cy="594360"/>
          </a:xfrm>
          <a:prstGeom prst="rect">
            <a:avLst/>
          </a:prstGeom>
          <a:noFill/>
        </p:spPr>
        <p:txBody>
          <a:bodyPr wrap="square" lIns="0" tIns="0" rIns="0" bIns="0">
            <a:spAutoFit/>
          </a:bodyPr>
          <a:lstStyle/>
          <a:p>
            <a:pPr>
              <a:defRPr sz="2200" b="1">
                <a:solidFill>
                  <a:srgbClr val="0F172A"/>
                </a:solidFill>
                <a:latin typeface="Arial"/>
              </a:defRPr>
            </a:pPr>
            <a:r>
              <a:t>Problem Statement: Critical Gaps in Modern Healthcare</a:t>
            </a:r>
          </a:p>
        </p:txBody>
      </p:sp>
      <p:sp>
        <p:nvSpPr>
          <p:cNvPr id="6" name="Rounded Rectangle 5"/>
          <p:cNvSpPr/>
          <p:nvPr/>
        </p:nvSpPr>
        <p:spPr>
          <a:xfrm>
            <a:off x="10607040" y="411480"/>
            <a:ext cx="822960" cy="320040"/>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F172A"/>
                </a:solidFill>
                <a:latin typeface="Arial"/>
              </a:defRPr>
            </a:pPr>
            <a:r>
              <a:rPr dirty="0"/>
              <a:t>2 / </a:t>
            </a:r>
            <a:r>
              <a:rPr lang="en-US" dirty="0"/>
              <a:t>5</a:t>
            </a:r>
            <a:endParaRPr dirty="0"/>
          </a:p>
        </p:txBody>
      </p:sp>
      <p:sp>
        <p:nvSpPr>
          <p:cNvPr id="7" name="TextBox 6"/>
          <p:cNvSpPr txBox="1"/>
          <p:nvPr/>
        </p:nvSpPr>
        <p:spPr>
          <a:xfrm>
            <a:off x="731520" y="6446520"/>
            <a:ext cx="10728655" cy="274320"/>
          </a:xfrm>
          <a:prstGeom prst="rect">
            <a:avLst/>
          </a:prstGeom>
          <a:noFill/>
        </p:spPr>
        <p:txBody>
          <a:bodyPr wrap="none" lIns="0" tIns="0" rIns="0" bIns="0">
            <a:spAutoFit/>
          </a:bodyPr>
          <a:lstStyle/>
          <a:p>
            <a:pPr>
              <a:defRPr sz="900">
                <a:solidFill>
                  <a:srgbClr val="64748B"/>
                </a:solidFill>
                <a:latin typeface="Arial"/>
              </a:defRPr>
            </a:pPr>
            <a:r>
              <a:t>MediFlow  •  Intelligent Healthcare Management &amp; Clinical Decision Support System</a:t>
            </a:r>
          </a:p>
        </p:txBody>
      </p:sp>
      <p:sp>
        <p:nvSpPr>
          <p:cNvPr id="8" name="Rounded Rectangle 7"/>
          <p:cNvSpPr/>
          <p:nvPr/>
        </p:nvSpPr>
        <p:spPr>
          <a:xfrm>
            <a:off x="731520" y="1463040"/>
            <a:ext cx="3383280" cy="46634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914400" y="1691640"/>
            <a:ext cx="3017520" cy="411480"/>
          </a:xfrm>
          <a:prstGeom prst="roundRect">
            <a:avLst/>
          </a:prstGeom>
          <a:solidFill>
            <a:srgbClr val="FEF2F2"/>
          </a:solidFill>
          <a:ln>
            <a:solidFill>
              <a:srgbClr val="FCA5A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B91C1C"/>
                </a:solidFill>
                <a:latin typeface="Arial"/>
              </a:defRPr>
            </a:pPr>
            <a:r>
              <a:t>FRAGMENTED ECOSYSTEMS</a:t>
            </a:r>
          </a:p>
        </p:txBody>
      </p:sp>
      <p:sp>
        <p:nvSpPr>
          <p:cNvPr id="10" name="TextBox 9"/>
          <p:cNvSpPr txBox="1"/>
          <p:nvPr/>
        </p:nvSpPr>
        <p:spPr>
          <a:xfrm>
            <a:off x="914400" y="2286000"/>
            <a:ext cx="3017520" cy="3474720"/>
          </a:xfrm>
          <a:prstGeom prst="rect">
            <a:avLst/>
          </a:prstGeom>
          <a:noFill/>
        </p:spPr>
        <p:txBody>
          <a:bodyPr wrap="square" lIns="0" tIns="0" rIns="0" bIns="0">
            <a:spAutoFit/>
          </a:bodyPr>
          <a:lstStyle/>
          <a:p>
            <a:pPr>
              <a:spcAft>
                <a:spcPts val="200"/>
              </a:spcAft>
              <a:defRPr sz="1100" b="1">
                <a:solidFill>
                  <a:srgbClr val="0F172A"/>
                </a:solidFill>
                <a:latin typeface="Arial"/>
              </a:defRPr>
            </a:pPr>
            <a:r>
              <a:rPr dirty="0"/>
              <a:t>•  Siloed Software Tools: </a:t>
            </a:r>
          </a:p>
          <a:p>
            <a:pPr>
              <a:spcAft>
                <a:spcPts val="1000"/>
              </a:spcAft>
              <a:defRPr sz="1000">
                <a:solidFill>
                  <a:srgbClr val="475569"/>
                </a:solidFill>
                <a:latin typeface="Arial"/>
              </a:defRPr>
            </a:pPr>
            <a:r>
              <a:rPr dirty="0"/>
              <a:t>   Hospitals run disconnected apps for booking, clinical notes, and billing, creating massive operational friction.</a:t>
            </a:r>
          </a:p>
          <a:p>
            <a:pPr>
              <a:spcAft>
                <a:spcPts val="200"/>
              </a:spcAft>
              <a:defRPr sz="1100" b="1">
                <a:solidFill>
                  <a:srgbClr val="0F172A"/>
                </a:solidFill>
                <a:latin typeface="Arial"/>
              </a:defRPr>
            </a:pPr>
            <a:r>
              <a:rPr dirty="0"/>
              <a:t>•  Medical Record Loss: </a:t>
            </a:r>
          </a:p>
          <a:p>
            <a:pPr>
              <a:spcAft>
                <a:spcPts val="1000"/>
              </a:spcAft>
              <a:defRPr sz="1000">
                <a:solidFill>
                  <a:srgbClr val="475569"/>
                </a:solidFill>
                <a:latin typeface="Arial"/>
              </a:defRPr>
            </a:pPr>
            <a:r>
              <a:rPr dirty="0"/>
              <a:t>   Patient health histories and past prescriptions get lost between handoffs, increasing diagnostic error rates.</a:t>
            </a:r>
          </a:p>
          <a:p>
            <a:pPr>
              <a:spcAft>
                <a:spcPts val="200"/>
              </a:spcAft>
              <a:defRPr sz="1100" b="1">
                <a:solidFill>
                  <a:srgbClr val="0F172A"/>
                </a:solidFill>
                <a:latin typeface="Arial"/>
              </a:defRPr>
            </a:pPr>
            <a:r>
              <a:rPr dirty="0"/>
              <a:t>•  Administrative Burnout: </a:t>
            </a:r>
          </a:p>
          <a:p>
            <a:pPr>
              <a:spcAft>
                <a:spcPts val="1000"/>
              </a:spcAft>
              <a:defRPr sz="1000">
                <a:solidFill>
                  <a:srgbClr val="475569"/>
                </a:solidFill>
                <a:latin typeface="Arial"/>
              </a:defRPr>
            </a:pPr>
            <a:r>
              <a:rPr dirty="0"/>
              <a:t>   Clinicians spend over 40% of their workday on repetitive administrative data entry rather than patient care.</a:t>
            </a:r>
          </a:p>
        </p:txBody>
      </p:sp>
      <p:sp>
        <p:nvSpPr>
          <p:cNvPr id="11" name="Rounded Rectangle 10"/>
          <p:cNvSpPr/>
          <p:nvPr/>
        </p:nvSpPr>
        <p:spPr>
          <a:xfrm>
            <a:off x="4398264" y="1463040"/>
            <a:ext cx="3383280" cy="46634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4581144" y="1691640"/>
            <a:ext cx="3017520" cy="411480"/>
          </a:xfrm>
          <a:prstGeom prst="roundRect">
            <a:avLst/>
          </a:prstGeom>
          <a:solidFill>
            <a:srgbClr val="FEF3C7"/>
          </a:solidFill>
          <a:ln>
            <a:solidFill>
              <a:srgbClr val="FDE68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D97706"/>
                </a:solidFill>
                <a:latin typeface="Arial"/>
              </a:defRPr>
            </a:pPr>
            <a:r>
              <a:t>SCHEDULING BOTTLENECKS</a:t>
            </a:r>
          </a:p>
        </p:txBody>
      </p:sp>
      <p:sp>
        <p:nvSpPr>
          <p:cNvPr id="13" name="TextBox 12"/>
          <p:cNvSpPr txBox="1"/>
          <p:nvPr/>
        </p:nvSpPr>
        <p:spPr>
          <a:xfrm>
            <a:off x="4581144" y="2286000"/>
            <a:ext cx="3017520" cy="3474720"/>
          </a:xfrm>
          <a:prstGeom prst="rect">
            <a:avLst/>
          </a:prstGeom>
          <a:noFill/>
        </p:spPr>
        <p:txBody>
          <a:bodyPr wrap="square" lIns="0" tIns="0" rIns="0" bIns="0">
            <a:spAutoFit/>
          </a:bodyPr>
          <a:lstStyle/>
          <a:p>
            <a:pPr>
              <a:spcAft>
                <a:spcPts val="200"/>
              </a:spcAft>
              <a:defRPr sz="1100" b="1">
                <a:solidFill>
                  <a:srgbClr val="0F172A"/>
                </a:solidFill>
                <a:latin typeface="Arial"/>
              </a:defRPr>
            </a:pPr>
            <a:r>
              <a:rPr dirty="0"/>
              <a:t>•  Double-Booking Conflicts: </a:t>
            </a:r>
          </a:p>
          <a:p>
            <a:pPr>
              <a:spcAft>
                <a:spcPts val="1000"/>
              </a:spcAft>
              <a:defRPr sz="1000">
                <a:solidFill>
                  <a:srgbClr val="475569"/>
                </a:solidFill>
                <a:latin typeface="Arial"/>
              </a:defRPr>
            </a:pPr>
            <a:r>
              <a:rPr dirty="0"/>
              <a:t>   Static scheduling systems fail to prevent overlapping appointments, creating clinic chaos.</a:t>
            </a:r>
          </a:p>
          <a:p>
            <a:pPr>
              <a:spcAft>
                <a:spcPts val="200"/>
              </a:spcAft>
              <a:defRPr sz="1100" b="1">
                <a:solidFill>
                  <a:srgbClr val="0F172A"/>
                </a:solidFill>
                <a:latin typeface="Arial"/>
              </a:defRPr>
            </a:pPr>
            <a:r>
              <a:rPr dirty="0"/>
              <a:t>•  High No-Show Rates: </a:t>
            </a:r>
          </a:p>
          <a:p>
            <a:pPr>
              <a:spcAft>
                <a:spcPts val="1000"/>
              </a:spcAft>
              <a:defRPr sz="1000">
                <a:solidFill>
                  <a:srgbClr val="475569"/>
                </a:solidFill>
                <a:latin typeface="Arial"/>
              </a:defRPr>
            </a:pPr>
            <a:r>
              <a:rPr dirty="0"/>
              <a:t>   Patients lack self-service cancellation, rescheduling, and automated reminder alerts.</a:t>
            </a:r>
          </a:p>
          <a:p>
            <a:pPr>
              <a:spcAft>
                <a:spcPts val="200"/>
              </a:spcAft>
              <a:defRPr sz="1100" b="1">
                <a:solidFill>
                  <a:srgbClr val="0F172A"/>
                </a:solidFill>
                <a:latin typeface="Arial"/>
              </a:defRPr>
            </a:pPr>
            <a:r>
              <a:rPr dirty="0"/>
              <a:t>•  Zero Capacity Visibility: </a:t>
            </a:r>
          </a:p>
          <a:p>
            <a:pPr>
              <a:spcAft>
                <a:spcPts val="1000"/>
              </a:spcAft>
              <a:defRPr sz="1000">
                <a:solidFill>
                  <a:srgbClr val="475569"/>
                </a:solidFill>
                <a:latin typeface="Arial"/>
              </a:defRPr>
            </a:pPr>
            <a:r>
              <a:rPr dirty="0"/>
              <a:t>   Hospital administrators lack real-time visibility into doctor availability and department bottlenecks.</a:t>
            </a:r>
          </a:p>
        </p:txBody>
      </p:sp>
      <p:sp>
        <p:nvSpPr>
          <p:cNvPr id="14" name="Rounded Rectangle 13"/>
          <p:cNvSpPr/>
          <p:nvPr/>
        </p:nvSpPr>
        <p:spPr>
          <a:xfrm>
            <a:off x="8065008" y="1463040"/>
            <a:ext cx="3383280" cy="46634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8247888" y="1691640"/>
            <a:ext cx="3017520" cy="411480"/>
          </a:xfrm>
          <a:prstGeom prst="roundRect">
            <a:avLst/>
          </a:prstGeom>
          <a:solidFill>
            <a:srgbClr val="F0FDFA"/>
          </a:solidFill>
          <a:ln>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F766E"/>
                </a:solidFill>
                <a:latin typeface="Arial"/>
              </a:defRPr>
            </a:pPr>
            <a:r>
              <a:t>OPAQUE CLINICAL AI</a:t>
            </a:r>
          </a:p>
        </p:txBody>
      </p:sp>
      <p:sp>
        <p:nvSpPr>
          <p:cNvPr id="16" name="TextBox 15"/>
          <p:cNvSpPr txBox="1"/>
          <p:nvPr/>
        </p:nvSpPr>
        <p:spPr>
          <a:xfrm>
            <a:off x="8247888" y="2286000"/>
            <a:ext cx="3017520" cy="3474720"/>
          </a:xfrm>
          <a:prstGeom prst="rect">
            <a:avLst/>
          </a:prstGeom>
          <a:noFill/>
        </p:spPr>
        <p:txBody>
          <a:bodyPr wrap="square" lIns="0" tIns="0" rIns="0" bIns="0">
            <a:spAutoFit/>
          </a:bodyPr>
          <a:lstStyle/>
          <a:p>
            <a:pPr>
              <a:spcAft>
                <a:spcPts val="200"/>
              </a:spcAft>
              <a:defRPr sz="1100" b="1">
                <a:solidFill>
                  <a:srgbClr val="0F172A"/>
                </a:solidFill>
                <a:latin typeface="Arial"/>
              </a:defRPr>
            </a:pPr>
            <a:r>
              <a:rPr dirty="0"/>
              <a:t>•  The 'Black Box' Dilemma: </a:t>
            </a:r>
          </a:p>
          <a:p>
            <a:pPr>
              <a:spcAft>
                <a:spcPts val="1000"/>
              </a:spcAft>
              <a:defRPr sz="1000">
                <a:solidFill>
                  <a:srgbClr val="475569"/>
                </a:solidFill>
                <a:latin typeface="Arial"/>
              </a:defRPr>
            </a:pPr>
            <a:r>
              <a:rPr dirty="0"/>
              <a:t>   Traditional AI outputs isolated percentage predictions with zero clinical reasoning or feature attribution.</a:t>
            </a:r>
          </a:p>
          <a:p>
            <a:pPr>
              <a:spcAft>
                <a:spcPts val="200"/>
              </a:spcAft>
              <a:defRPr sz="1100" b="1">
                <a:solidFill>
                  <a:srgbClr val="0F172A"/>
                </a:solidFill>
                <a:latin typeface="Arial"/>
              </a:defRPr>
            </a:pPr>
            <a:r>
              <a:rPr dirty="0"/>
              <a:t>•  Clinician Distrust: </a:t>
            </a:r>
          </a:p>
          <a:p>
            <a:pPr>
              <a:spcAft>
                <a:spcPts val="1000"/>
              </a:spcAft>
              <a:defRPr sz="1000">
                <a:solidFill>
                  <a:srgbClr val="475569"/>
                </a:solidFill>
                <a:latin typeface="Arial"/>
              </a:defRPr>
            </a:pPr>
            <a:r>
              <a:rPr dirty="0"/>
              <a:t>   Doctors rightfully reject AI predictions when they cannot see which biometric parameters drove the score.</a:t>
            </a:r>
          </a:p>
          <a:p>
            <a:pPr>
              <a:spcAft>
                <a:spcPts val="200"/>
              </a:spcAft>
              <a:defRPr sz="1100" b="1">
                <a:solidFill>
                  <a:srgbClr val="0F172A"/>
                </a:solidFill>
                <a:latin typeface="Arial"/>
              </a:defRPr>
            </a:pPr>
            <a:r>
              <a:rPr dirty="0"/>
              <a:t>•  Lack of Ethical Safeguards: </a:t>
            </a:r>
          </a:p>
          <a:p>
            <a:pPr>
              <a:spcAft>
                <a:spcPts val="1000"/>
              </a:spcAft>
              <a:defRPr sz="1000">
                <a:solidFill>
                  <a:srgbClr val="475569"/>
                </a:solidFill>
                <a:latin typeface="Arial"/>
              </a:defRPr>
            </a:pPr>
            <a:r>
              <a:rPr dirty="0"/>
              <a:t>   Most tools fail to enforce non-diagnostic disclaimers and clinical decision guardrails.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365760"/>
            <a:ext cx="9144000" cy="320040"/>
          </a:xfrm>
          <a:prstGeom prst="rect">
            <a:avLst/>
          </a:prstGeom>
          <a:noFill/>
        </p:spPr>
        <p:txBody>
          <a:bodyPr wrap="square" lIns="0" tIns="0" rIns="0" bIns="0">
            <a:spAutoFit/>
          </a:bodyPr>
          <a:lstStyle/>
          <a:p>
            <a:pPr>
              <a:defRPr sz="1050" b="1">
                <a:solidFill>
                  <a:srgbClr val="0D9488"/>
                </a:solidFill>
                <a:latin typeface="Arial"/>
              </a:defRPr>
            </a:pPr>
            <a:r>
              <a:t>CORE SOLUTION ARCHITECTURE</a:t>
            </a:r>
          </a:p>
        </p:txBody>
      </p:sp>
      <p:sp>
        <p:nvSpPr>
          <p:cNvPr id="5" name="TextBox 4"/>
          <p:cNvSpPr txBox="1"/>
          <p:nvPr/>
        </p:nvSpPr>
        <p:spPr>
          <a:xfrm>
            <a:off x="731520" y="658368"/>
            <a:ext cx="9601200" cy="594360"/>
          </a:xfrm>
          <a:prstGeom prst="rect">
            <a:avLst/>
          </a:prstGeom>
          <a:noFill/>
        </p:spPr>
        <p:txBody>
          <a:bodyPr wrap="square" lIns="0" tIns="0" rIns="0" bIns="0">
            <a:spAutoFit/>
          </a:bodyPr>
          <a:lstStyle/>
          <a:p>
            <a:pPr>
              <a:defRPr sz="2200" b="1">
                <a:solidFill>
                  <a:srgbClr val="0F172A"/>
                </a:solidFill>
                <a:latin typeface="Arial"/>
              </a:defRPr>
            </a:pPr>
            <a:r>
              <a:t>The MediFlow Solution: Unified, Role-Based Healthcare Ecosystem</a:t>
            </a:r>
          </a:p>
        </p:txBody>
      </p:sp>
      <p:sp>
        <p:nvSpPr>
          <p:cNvPr id="6" name="Rounded Rectangle 5"/>
          <p:cNvSpPr/>
          <p:nvPr/>
        </p:nvSpPr>
        <p:spPr>
          <a:xfrm>
            <a:off x="10607040" y="411480"/>
            <a:ext cx="822960" cy="320040"/>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F172A"/>
                </a:solidFill>
                <a:latin typeface="Arial"/>
              </a:defRPr>
            </a:pPr>
            <a:r>
              <a:rPr dirty="0"/>
              <a:t>3 / </a:t>
            </a:r>
            <a:r>
              <a:rPr lang="en-US" dirty="0"/>
              <a:t>5</a:t>
            </a:r>
            <a:endParaRPr dirty="0"/>
          </a:p>
        </p:txBody>
      </p:sp>
      <p:sp>
        <p:nvSpPr>
          <p:cNvPr id="7" name="TextBox 6"/>
          <p:cNvSpPr txBox="1"/>
          <p:nvPr/>
        </p:nvSpPr>
        <p:spPr>
          <a:xfrm>
            <a:off x="731520" y="6446520"/>
            <a:ext cx="10728655" cy="274320"/>
          </a:xfrm>
          <a:prstGeom prst="rect">
            <a:avLst/>
          </a:prstGeom>
          <a:noFill/>
        </p:spPr>
        <p:txBody>
          <a:bodyPr wrap="none" lIns="0" tIns="0" rIns="0" bIns="0">
            <a:spAutoFit/>
          </a:bodyPr>
          <a:lstStyle/>
          <a:p>
            <a:pPr>
              <a:defRPr sz="900">
                <a:solidFill>
                  <a:srgbClr val="64748B"/>
                </a:solidFill>
                <a:latin typeface="Arial"/>
              </a:defRPr>
            </a:pPr>
            <a:r>
              <a:t>MediFlow  •  Intelligent Healthcare Management &amp; Clinical Decision Support System</a:t>
            </a:r>
          </a:p>
        </p:txBody>
      </p:sp>
      <p:sp>
        <p:nvSpPr>
          <p:cNvPr id="8" name="Rounded Rectangle 7"/>
          <p:cNvSpPr/>
          <p:nvPr/>
        </p:nvSpPr>
        <p:spPr>
          <a:xfrm>
            <a:off x="731520" y="1463040"/>
            <a:ext cx="3383280" cy="4663440"/>
          </a:xfrm>
          <a:prstGeom prst="roundRect">
            <a:avLst/>
          </a:prstGeom>
          <a:solidFill>
            <a:srgbClr val="FFFFFF"/>
          </a:solidFill>
          <a:ln w="1524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914400" y="1691640"/>
            <a:ext cx="3017520" cy="411480"/>
          </a:xfrm>
          <a:prstGeom prst="roundRect">
            <a:avLst/>
          </a:prstGeom>
          <a:solidFill>
            <a:srgbClr val="F0FDFA"/>
          </a:solidFill>
          <a:ln w="1524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0D9488"/>
                </a:solidFill>
                <a:latin typeface="Arial"/>
              </a:defRPr>
            </a:pPr>
            <a:r>
              <a:t>PATIENT PORTAL</a:t>
            </a:r>
          </a:p>
        </p:txBody>
      </p:sp>
      <p:sp>
        <p:nvSpPr>
          <p:cNvPr id="10" name="TextBox 9"/>
          <p:cNvSpPr txBox="1"/>
          <p:nvPr/>
        </p:nvSpPr>
        <p:spPr>
          <a:xfrm>
            <a:off x="914400" y="2286000"/>
            <a:ext cx="3017520" cy="3566160"/>
          </a:xfrm>
          <a:prstGeom prst="rect">
            <a:avLst/>
          </a:prstGeom>
          <a:noFill/>
        </p:spPr>
        <p:txBody>
          <a:bodyPr wrap="square" lIns="0" tIns="0" rIns="0" bIns="0">
            <a:spAutoFit/>
          </a:bodyPr>
          <a:lstStyle/>
          <a:p>
            <a:pPr>
              <a:spcAft>
                <a:spcPts val="200"/>
              </a:spcAft>
              <a:defRPr sz="1100" b="1">
                <a:solidFill>
                  <a:srgbClr val="0F172A"/>
                </a:solidFill>
                <a:latin typeface="Arial"/>
              </a:defRPr>
            </a:pPr>
            <a:r>
              <a:t>✓  Self-Service Scheduling</a:t>
            </a:r>
          </a:p>
          <a:p>
            <a:pPr>
              <a:spcAft>
                <a:spcPts val="1000"/>
              </a:spcAft>
              <a:defRPr sz="1000">
                <a:solidFill>
                  <a:srgbClr val="475569"/>
                </a:solidFill>
                <a:latin typeface="Arial"/>
              </a:defRPr>
            </a:pPr>
            <a:r>
              <a:t>    Search verified doctors by department, select available 30-min slots, and instantly confirm.</a:t>
            </a:r>
          </a:p>
          <a:p>
            <a:pPr>
              <a:spcAft>
                <a:spcPts val="200"/>
              </a:spcAft>
              <a:defRPr sz="1100" b="1">
                <a:solidFill>
                  <a:srgbClr val="0F172A"/>
                </a:solidFill>
                <a:latin typeface="Arial"/>
              </a:defRPr>
            </a:pPr>
            <a:r>
              <a:t>✓  Digital Health Timeline</a:t>
            </a:r>
          </a:p>
          <a:p>
            <a:pPr>
              <a:spcAft>
                <a:spcPts val="1000"/>
              </a:spcAft>
              <a:defRPr sz="1000">
                <a:solidFill>
                  <a:srgbClr val="475569"/>
                </a:solidFill>
                <a:latin typeface="Arial"/>
              </a:defRPr>
            </a:pPr>
            <a:r>
              <a:t>    Secure access to full medical history, consultation notes, and digital prescriptions.</a:t>
            </a:r>
          </a:p>
          <a:p>
            <a:pPr>
              <a:spcAft>
                <a:spcPts val="200"/>
              </a:spcAft>
              <a:defRPr sz="1100" b="1">
                <a:solidFill>
                  <a:srgbClr val="0F172A"/>
                </a:solidFill>
                <a:latin typeface="Arial"/>
              </a:defRPr>
            </a:pPr>
            <a:r>
              <a:t>✓  Empowered Health Access</a:t>
            </a:r>
          </a:p>
          <a:p>
            <a:pPr>
              <a:spcAft>
                <a:spcPts val="1000"/>
              </a:spcAft>
              <a:defRPr sz="1000">
                <a:solidFill>
                  <a:srgbClr val="475569"/>
                </a:solidFill>
                <a:latin typeface="Arial"/>
              </a:defRPr>
            </a:pPr>
            <a:r>
              <a:t>    View uploaded lab test reports and receive preventative health tips and visit alerts.</a:t>
            </a:r>
          </a:p>
        </p:txBody>
      </p:sp>
      <p:sp>
        <p:nvSpPr>
          <p:cNvPr id="11" name="Rounded Rectangle 10"/>
          <p:cNvSpPr/>
          <p:nvPr/>
        </p:nvSpPr>
        <p:spPr>
          <a:xfrm>
            <a:off x="4398264" y="1463040"/>
            <a:ext cx="3383280" cy="4663440"/>
          </a:xfrm>
          <a:prstGeom prst="roundRect">
            <a:avLst/>
          </a:prstGeom>
          <a:solidFill>
            <a:srgbClr val="FFFFFF"/>
          </a:solidFill>
          <a:ln w="1524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4581144" y="1691640"/>
            <a:ext cx="3017520" cy="411480"/>
          </a:xfrm>
          <a:prstGeom prst="roundRect">
            <a:avLst/>
          </a:prstGeom>
          <a:solidFill>
            <a:srgbClr val="F0F9FF"/>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0284C7"/>
                </a:solidFill>
                <a:latin typeface="Arial"/>
              </a:defRPr>
            </a:pPr>
            <a:r>
              <a:t>DOCTOR CLINICAL SUITE</a:t>
            </a:r>
          </a:p>
        </p:txBody>
      </p:sp>
      <p:sp>
        <p:nvSpPr>
          <p:cNvPr id="13" name="TextBox 12"/>
          <p:cNvSpPr txBox="1"/>
          <p:nvPr/>
        </p:nvSpPr>
        <p:spPr>
          <a:xfrm>
            <a:off x="4581144" y="2286000"/>
            <a:ext cx="3017520" cy="3566160"/>
          </a:xfrm>
          <a:prstGeom prst="rect">
            <a:avLst/>
          </a:prstGeom>
          <a:noFill/>
        </p:spPr>
        <p:txBody>
          <a:bodyPr wrap="square" lIns="0" tIns="0" rIns="0" bIns="0">
            <a:spAutoFit/>
          </a:bodyPr>
          <a:lstStyle/>
          <a:p>
            <a:pPr>
              <a:spcAft>
                <a:spcPts val="200"/>
              </a:spcAft>
              <a:defRPr sz="1100" b="1">
                <a:solidFill>
                  <a:srgbClr val="0F172A"/>
                </a:solidFill>
                <a:latin typeface="Arial"/>
              </a:defRPr>
            </a:pPr>
            <a:r>
              <a:t>✓  Real-Time Schedule Cockpit</a:t>
            </a:r>
          </a:p>
          <a:p>
            <a:pPr>
              <a:spcAft>
                <a:spcPts val="1000"/>
              </a:spcAft>
              <a:defRPr sz="1000">
                <a:solidFill>
                  <a:srgbClr val="475569"/>
                </a:solidFill>
                <a:latin typeface="Arial"/>
              </a:defRPr>
            </a:pPr>
            <a:r>
              <a:t>    View daily appointment queues, mark in-progress visits, and manage consultation workflow.</a:t>
            </a:r>
          </a:p>
          <a:p>
            <a:pPr>
              <a:spcAft>
                <a:spcPts val="200"/>
              </a:spcAft>
              <a:defRPr sz="1100" b="1">
                <a:solidFill>
                  <a:srgbClr val="0F172A"/>
                </a:solidFill>
                <a:latin typeface="Arial"/>
              </a:defRPr>
            </a:pPr>
            <a:r>
              <a:t>✓  Electronic Consultation (EMR)</a:t>
            </a:r>
          </a:p>
          <a:p>
            <a:pPr>
              <a:spcAft>
                <a:spcPts val="1000"/>
              </a:spcAft>
              <a:defRPr sz="1000">
                <a:solidFill>
                  <a:srgbClr val="475569"/>
                </a:solidFill>
                <a:latin typeface="Arial"/>
              </a:defRPr>
            </a:pPr>
            <a:r>
              <a:t>    Record chief complaints, diagnosis codes, patient vitals, and structured prescription items.</a:t>
            </a:r>
          </a:p>
          <a:p>
            <a:pPr>
              <a:spcAft>
                <a:spcPts val="200"/>
              </a:spcAft>
              <a:defRPr sz="1100" b="1">
                <a:solidFill>
                  <a:srgbClr val="0F172A"/>
                </a:solidFill>
                <a:latin typeface="Arial"/>
              </a:defRPr>
            </a:pPr>
            <a:r>
              <a:t>✓  Explainable AI Risk Stratification</a:t>
            </a:r>
          </a:p>
          <a:p>
            <a:pPr>
              <a:spcAft>
                <a:spcPts val="1000"/>
              </a:spcAft>
              <a:defRPr sz="1000">
                <a:solidFill>
                  <a:srgbClr val="475569"/>
                </a:solidFill>
                <a:latin typeface="Arial"/>
              </a:defRPr>
            </a:pPr>
            <a:r>
              <a:t>    Trigger on-demand cardiovascular risk assessments with SHAP factor attribution.</a:t>
            </a:r>
          </a:p>
        </p:txBody>
      </p:sp>
      <p:sp>
        <p:nvSpPr>
          <p:cNvPr id="14" name="Rounded Rectangle 13"/>
          <p:cNvSpPr/>
          <p:nvPr/>
        </p:nvSpPr>
        <p:spPr>
          <a:xfrm>
            <a:off x="8065008" y="1463040"/>
            <a:ext cx="3383280" cy="46634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8247888" y="1691640"/>
            <a:ext cx="3017520" cy="411480"/>
          </a:xfrm>
          <a:prstGeom prst="roundRect">
            <a:avLst/>
          </a:prstGeom>
          <a:solidFill>
            <a:srgbClr val="F1F5F9"/>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0F172A"/>
                </a:solidFill>
                <a:latin typeface="Arial"/>
              </a:defRPr>
            </a:pPr>
            <a:r>
              <a:t>HOSPITAL ADMIN CONSOLE</a:t>
            </a:r>
          </a:p>
        </p:txBody>
      </p:sp>
      <p:sp>
        <p:nvSpPr>
          <p:cNvPr id="16" name="TextBox 15"/>
          <p:cNvSpPr txBox="1"/>
          <p:nvPr/>
        </p:nvSpPr>
        <p:spPr>
          <a:xfrm>
            <a:off x="8247888" y="2286000"/>
            <a:ext cx="3017520" cy="3566160"/>
          </a:xfrm>
          <a:prstGeom prst="rect">
            <a:avLst/>
          </a:prstGeom>
          <a:noFill/>
        </p:spPr>
        <p:txBody>
          <a:bodyPr wrap="square" lIns="0" tIns="0" rIns="0" bIns="0">
            <a:spAutoFit/>
          </a:bodyPr>
          <a:lstStyle/>
          <a:p>
            <a:pPr>
              <a:spcAft>
                <a:spcPts val="200"/>
              </a:spcAft>
              <a:defRPr sz="1100" b="1">
                <a:solidFill>
                  <a:srgbClr val="0F172A"/>
                </a:solidFill>
                <a:latin typeface="Arial"/>
              </a:defRPr>
            </a:pPr>
            <a:r>
              <a:t>✓  Staff &amp; Department Roster</a:t>
            </a:r>
          </a:p>
          <a:p>
            <a:pPr>
              <a:spcAft>
                <a:spcPts val="1000"/>
              </a:spcAft>
              <a:defRPr sz="1000">
                <a:solidFill>
                  <a:srgbClr val="475569"/>
                </a:solidFill>
                <a:latin typeface="Arial"/>
              </a:defRPr>
            </a:pPr>
            <a:r>
              <a:t>    Onboard physicians, configure department availability rules, and monitor clinic schedules.</a:t>
            </a:r>
          </a:p>
          <a:p>
            <a:pPr>
              <a:spcAft>
                <a:spcPts val="200"/>
              </a:spcAft>
              <a:defRPr sz="1100" b="1">
                <a:solidFill>
                  <a:srgbClr val="0F172A"/>
                </a:solidFill>
                <a:latin typeface="Arial"/>
              </a:defRPr>
            </a:pPr>
            <a:r>
              <a:t>✓  Operational Intelligence</a:t>
            </a:r>
          </a:p>
          <a:p>
            <a:pPr>
              <a:spcAft>
                <a:spcPts val="1000"/>
              </a:spcAft>
              <a:defRPr sz="1000">
                <a:solidFill>
                  <a:srgbClr val="475569"/>
                </a:solidFill>
                <a:latin typeface="Arial"/>
              </a:defRPr>
            </a:pPr>
            <a:r>
              <a:t>    Live analytics on patient volumes, completed appointments, and department load factors.</a:t>
            </a:r>
          </a:p>
          <a:p>
            <a:pPr>
              <a:spcAft>
                <a:spcPts val="200"/>
              </a:spcAft>
              <a:defRPr sz="1100" b="1">
                <a:solidFill>
                  <a:srgbClr val="0F172A"/>
                </a:solidFill>
                <a:latin typeface="Arial"/>
              </a:defRPr>
            </a:pPr>
            <a:r>
              <a:t>✓  HIPAA-Aligned Audit Trail</a:t>
            </a:r>
          </a:p>
          <a:p>
            <a:pPr>
              <a:spcAft>
                <a:spcPts val="1000"/>
              </a:spcAft>
              <a:defRPr sz="1000">
                <a:solidFill>
                  <a:srgbClr val="475569"/>
                </a:solidFill>
                <a:latin typeface="Arial"/>
              </a:defRPr>
            </a:pPr>
            <a:r>
              <a:t>    System-wide immutable logging of every Protected Health Information (PHI) access event.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365760"/>
            <a:ext cx="9144000" cy="320040"/>
          </a:xfrm>
          <a:prstGeom prst="rect">
            <a:avLst/>
          </a:prstGeom>
          <a:noFill/>
        </p:spPr>
        <p:txBody>
          <a:bodyPr wrap="square" lIns="0" tIns="0" rIns="0" bIns="0">
            <a:spAutoFit/>
          </a:bodyPr>
          <a:lstStyle/>
          <a:p>
            <a:pPr>
              <a:defRPr sz="1050" b="1">
                <a:solidFill>
                  <a:srgbClr val="0D9488"/>
                </a:solidFill>
                <a:latin typeface="Arial"/>
              </a:defRPr>
            </a:pPr>
            <a:r>
              <a:t>REQUIREMENTS ENGINEERING</a:t>
            </a:r>
          </a:p>
        </p:txBody>
      </p:sp>
      <p:sp>
        <p:nvSpPr>
          <p:cNvPr id="5" name="TextBox 4"/>
          <p:cNvSpPr txBox="1"/>
          <p:nvPr/>
        </p:nvSpPr>
        <p:spPr>
          <a:xfrm>
            <a:off x="731520" y="658368"/>
            <a:ext cx="9601200" cy="594360"/>
          </a:xfrm>
          <a:prstGeom prst="rect">
            <a:avLst/>
          </a:prstGeom>
          <a:noFill/>
        </p:spPr>
        <p:txBody>
          <a:bodyPr wrap="square" lIns="0" tIns="0" rIns="0" bIns="0">
            <a:spAutoFit/>
          </a:bodyPr>
          <a:lstStyle/>
          <a:p>
            <a:pPr>
              <a:defRPr sz="2200" b="1">
                <a:solidFill>
                  <a:srgbClr val="0F172A"/>
                </a:solidFill>
                <a:latin typeface="Arial"/>
              </a:defRPr>
            </a:pPr>
            <a:r>
              <a:t>System Requirements: Functional &amp; Non-Functional Specifications</a:t>
            </a:r>
          </a:p>
        </p:txBody>
      </p:sp>
      <p:sp>
        <p:nvSpPr>
          <p:cNvPr id="6" name="Rounded Rectangle 5"/>
          <p:cNvSpPr/>
          <p:nvPr/>
        </p:nvSpPr>
        <p:spPr>
          <a:xfrm>
            <a:off x="10607040" y="411480"/>
            <a:ext cx="822960" cy="320040"/>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F172A"/>
                </a:solidFill>
                <a:latin typeface="Arial"/>
              </a:defRPr>
            </a:pPr>
            <a:r>
              <a:rPr dirty="0"/>
              <a:t>4 / </a:t>
            </a:r>
            <a:r>
              <a:rPr lang="en-US" dirty="0"/>
              <a:t>5</a:t>
            </a:r>
            <a:endParaRPr dirty="0"/>
          </a:p>
        </p:txBody>
      </p:sp>
      <p:sp>
        <p:nvSpPr>
          <p:cNvPr id="7" name="TextBox 6"/>
          <p:cNvSpPr txBox="1"/>
          <p:nvPr/>
        </p:nvSpPr>
        <p:spPr>
          <a:xfrm>
            <a:off x="731520" y="6446520"/>
            <a:ext cx="10728655" cy="274320"/>
          </a:xfrm>
          <a:prstGeom prst="rect">
            <a:avLst/>
          </a:prstGeom>
          <a:noFill/>
        </p:spPr>
        <p:txBody>
          <a:bodyPr wrap="none" lIns="0" tIns="0" rIns="0" bIns="0">
            <a:spAutoFit/>
          </a:bodyPr>
          <a:lstStyle/>
          <a:p>
            <a:pPr>
              <a:defRPr sz="900">
                <a:solidFill>
                  <a:srgbClr val="64748B"/>
                </a:solidFill>
                <a:latin typeface="Arial"/>
              </a:defRPr>
            </a:pPr>
            <a:r>
              <a:t>MediFlow  •  Intelligent Healthcare Management &amp; Clinical Decision Support System</a:t>
            </a:r>
          </a:p>
        </p:txBody>
      </p:sp>
      <p:sp>
        <p:nvSpPr>
          <p:cNvPr id="8" name="Rounded Rectangle 7"/>
          <p:cNvSpPr/>
          <p:nvPr/>
        </p:nvSpPr>
        <p:spPr>
          <a:xfrm>
            <a:off x="731520" y="1463040"/>
            <a:ext cx="5212080" cy="4663440"/>
          </a:xfrm>
          <a:prstGeom prst="roundRect">
            <a:avLst/>
          </a:prstGeom>
          <a:solidFill>
            <a:srgbClr val="FFFFFF"/>
          </a:solidFill>
          <a:ln w="1524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1005840" y="1691640"/>
            <a:ext cx="4663440" cy="411480"/>
          </a:xfrm>
          <a:prstGeom prst="roundRect">
            <a:avLst/>
          </a:prstGeom>
          <a:solidFill>
            <a:srgbClr val="F0FDFA"/>
          </a:solidFill>
          <a:ln>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F766E"/>
                </a:solidFill>
                <a:latin typeface="Arial"/>
              </a:defRPr>
            </a:pPr>
            <a:r>
              <a:t>FUNCTIONAL REQUIREMENTS (FR)</a:t>
            </a:r>
          </a:p>
        </p:txBody>
      </p:sp>
      <p:sp>
        <p:nvSpPr>
          <p:cNvPr id="10" name="TextBox 9"/>
          <p:cNvSpPr txBox="1"/>
          <p:nvPr/>
        </p:nvSpPr>
        <p:spPr>
          <a:xfrm>
            <a:off x="1005840" y="2286000"/>
            <a:ext cx="4663440" cy="2546851"/>
          </a:xfrm>
          <a:prstGeom prst="rect">
            <a:avLst/>
          </a:prstGeom>
          <a:noFill/>
        </p:spPr>
        <p:txBody>
          <a:bodyPr wrap="square" lIns="0" tIns="0" rIns="0" bIns="0">
            <a:spAutoFit/>
          </a:bodyPr>
          <a:lstStyle/>
          <a:p>
            <a:pPr>
              <a:spcAft>
                <a:spcPts val="100"/>
              </a:spcAft>
              <a:defRPr sz="1050" b="1">
                <a:solidFill>
                  <a:srgbClr val="0F172A"/>
                </a:solidFill>
                <a:latin typeface="Arial"/>
              </a:defRPr>
            </a:pPr>
            <a:r>
              <a:rPr dirty="0"/>
              <a:t>1</a:t>
            </a:r>
            <a:r>
              <a:rPr lang="en-US" dirty="0"/>
              <a:t>.</a:t>
            </a:r>
            <a:r>
              <a:rPr dirty="0"/>
              <a:t> Role-Based Identity &amp; Access: </a:t>
            </a:r>
          </a:p>
          <a:p>
            <a:pPr>
              <a:spcAft>
                <a:spcPts val="700"/>
              </a:spcAft>
              <a:defRPr sz="950">
                <a:solidFill>
                  <a:srgbClr val="475569"/>
                </a:solidFill>
                <a:latin typeface="Arial"/>
              </a:defRPr>
            </a:pPr>
            <a:r>
              <a:rPr dirty="0"/>
              <a:t>User registration, password hashing, and role determination (Patient, Doctor, Admin).</a:t>
            </a:r>
          </a:p>
          <a:p>
            <a:pPr>
              <a:spcAft>
                <a:spcPts val="100"/>
              </a:spcAft>
              <a:defRPr sz="1050" b="1">
                <a:solidFill>
                  <a:srgbClr val="0F172A"/>
                </a:solidFill>
                <a:latin typeface="Arial"/>
              </a:defRPr>
            </a:pPr>
            <a:r>
              <a:rPr lang="en-US" dirty="0"/>
              <a:t>2. </a:t>
            </a:r>
            <a:r>
              <a:rPr dirty="0"/>
              <a:t>Dynamic Appointment Scheduling: </a:t>
            </a:r>
          </a:p>
          <a:p>
            <a:pPr>
              <a:spcAft>
                <a:spcPts val="700"/>
              </a:spcAft>
              <a:defRPr sz="950">
                <a:solidFill>
                  <a:srgbClr val="475569"/>
                </a:solidFill>
                <a:latin typeface="Arial"/>
              </a:defRPr>
            </a:pPr>
            <a:r>
              <a:rPr dirty="0"/>
              <a:t>Doctor schedule configuration, real-time slot booking, cancellation, and double-booking prevention.</a:t>
            </a:r>
          </a:p>
          <a:p>
            <a:pPr>
              <a:spcAft>
                <a:spcPts val="100"/>
              </a:spcAft>
              <a:defRPr sz="1050" b="1">
                <a:solidFill>
                  <a:srgbClr val="0F172A"/>
                </a:solidFill>
                <a:latin typeface="Arial"/>
              </a:defRPr>
            </a:pPr>
            <a:r>
              <a:rPr dirty="0"/>
              <a:t>3</a:t>
            </a:r>
            <a:r>
              <a:rPr lang="en-US" dirty="0"/>
              <a:t>.</a:t>
            </a:r>
            <a:r>
              <a:rPr dirty="0"/>
              <a:t> Electronic Medical Records (EMR): </a:t>
            </a:r>
          </a:p>
          <a:p>
            <a:pPr>
              <a:spcAft>
                <a:spcPts val="700"/>
              </a:spcAft>
              <a:defRPr sz="950">
                <a:solidFill>
                  <a:srgbClr val="475569"/>
                </a:solidFill>
                <a:latin typeface="Arial"/>
              </a:defRPr>
            </a:pPr>
            <a:r>
              <a:rPr dirty="0"/>
              <a:t>Clinicians record vitals (BP, glucose, heart rate), clinical notes, and itemized prescriptions.</a:t>
            </a:r>
            <a:endParaRPr lang="it-IT" dirty="0"/>
          </a:p>
          <a:p>
            <a:pPr>
              <a:spcAft>
                <a:spcPts val="100"/>
              </a:spcAft>
              <a:defRPr sz="1050" b="1">
                <a:solidFill>
                  <a:srgbClr val="0F172A"/>
                </a:solidFill>
                <a:latin typeface="Arial"/>
              </a:defRPr>
            </a:pPr>
            <a:r>
              <a:rPr lang="it-IT" dirty="0"/>
              <a:t>4. AI Clinical Decision Support: </a:t>
            </a:r>
          </a:p>
          <a:p>
            <a:pPr>
              <a:spcAft>
                <a:spcPts val="700"/>
              </a:spcAft>
              <a:defRPr sz="950">
                <a:solidFill>
                  <a:srgbClr val="475569"/>
                </a:solidFill>
                <a:latin typeface="Arial"/>
              </a:defRPr>
            </a:pPr>
            <a:r>
              <a:rPr dirty="0"/>
              <a:t>Instant calculation of patient risk scores with feature contribution charts (SHAP) and clinical disclaimers.</a:t>
            </a:r>
          </a:p>
          <a:p>
            <a:pPr>
              <a:spcAft>
                <a:spcPts val="100"/>
              </a:spcAft>
              <a:defRPr sz="1050" b="1">
                <a:solidFill>
                  <a:srgbClr val="0F172A"/>
                </a:solidFill>
                <a:latin typeface="Arial"/>
              </a:defRPr>
            </a:pPr>
            <a:r>
              <a:rPr dirty="0"/>
              <a:t>5</a:t>
            </a:r>
            <a:r>
              <a:rPr lang="en-US" dirty="0"/>
              <a:t>.</a:t>
            </a:r>
            <a:r>
              <a:rPr dirty="0"/>
              <a:t> Hospital Operations &amp; Analytics: </a:t>
            </a:r>
          </a:p>
          <a:p>
            <a:pPr>
              <a:spcAft>
                <a:spcPts val="700"/>
              </a:spcAft>
              <a:defRPr sz="950">
                <a:solidFill>
                  <a:srgbClr val="475569"/>
                </a:solidFill>
                <a:latin typeface="Arial"/>
              </a:defRPr>
            </a:pPr>
            <a:r>
              <a:rPr dirty="0"/>
              <a:t>Aggregation of department volume, active clinician counts, and appointment status metrics.</a:t>
            </a:r>
          </a:p>
        </p:txBody>
      </p:sp>
      <p:sp>
        <p:nvSpPr>
          <p:cNvPr id="11" name="Rounded Rectangle 10"/>
          <p:cNvSpPr/>
          <p:nvPr/>
        </p:nvSpPr>
        <p:spPr>
          <a:xfrm>
            <a:off x="6245352" y="1463040"/>
            <a:ext cx="5212080" cy="4663440"/>
          </a:xfrm>
          <a:prstGeom prst="roundRect">
            <a:avLst/>
          </a:prstGeom>
          <a:solidFill>
            <a:srgbClr val="FFFFFF"/>
          </a:solidFill>
          <a:ln w="1524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6519672" y="1691640"/>
            <a:ext cx="4663440" cy="411480"/>
          </a:xfrm>
          <a:prstGeom prst="roundRect">
            <a:avLst/>
          </a:prstGeom>
          <a:solidFill>
            <a:srgbClr val="F0F9FF"/>
          </a:solidFill>
          <a:ln>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284C7"/>
                </a:solidFill>
                <a:latin typeface="Arial"/>
              </a:defRPr>
            </a:pPr>
            <a:r>
              <a:t>NON-FUNCTIONAL REQUIREMENTS (NFR)</a:t>
            </a:r>
          </a:p>
        </p:txBody>
      </p:sp>
      <p:sp>
        <p:nvSpPr>
          <p:cNvPr id="13" name="TextBox 12"/>
          <p:cNvSpPr txBox="1"/>
          <p:nvPr/>
        </p:nvSpPr>
        <p:spPr>
          <a:xfrm>
            <a:off x="6519672" y="2286000"/>
            <a:ext cx="4663440" cy="1844095"/>
          </a:xfrm>
          <a:prstGeom prst="rect">
            <a:avLst/>
          </a:prstGeom>
          <a:noFill/>
        </p:spPr>
        <p:txBody>
          <a:bodyPr wrap="square" lIns="0" tIns="0" rIns="0" bIns="0">
            <a:spAutoFit/>
          </a:bodyPr>
          <a:lstStyle/>
          <a:p>
            <a:pPr>
              <a:spcAft>
                <a:spcPts val="100"/>
              </a:spcAft>
              <a:defRPr sz="1050" b="1">
                <a:solidFill>
                  <a:srgbClr val="0F172A"/>
                </a:solidFill>
                <a:latin typeface="Arial"/>
              </a:defRPr>
            </a:pPr>
            <a:r>
              <a:rPr dirty="0"/>
              <a:t>1</a:t>
            </a:r>
            <a:r>
              <a:rPr lang="en-US" dirty="0"/>
              <a:t>.</a:t>
            </a:r>
            <a:r>
              <a:rPr dirty="0"/>
              <a:t> Security &amp; Confidentiality: </a:t>
            </a:r>
            <a:endParaRPr lang="en-US" dirty="0"/>
          </a:p>
          <a:p>
            <a:pPr>
              <a:spcAft>
                <a:spcPts val="700"/>
              </a:spcAft>
              <a:defRPr sz="950">
                <a:solidFill>
                  <a:srgbClr val="475569"/>
                </a:solidFill>
                <a:latin typeface="Arial"/>
              </a:defRPr>
            </a:pPr>
            <a:r>
              <a:rPr lang="en-US" dirty="0"/>
              <a:t>Stateless JWT authorization, and strict segregation of patient records.</a:t>
            </a:r>
          </a:p>
          <a:p>
            <a:pPr>
              <a:spcAft>
                <a:spcPts val="100"/>
              </a:spcAft>
              <a:defRPr sz="1050" b="1">
                <a:solidFill>
                  <a:srgbClr val="0F172A"/>
                </a:solidFill>
                <a:latin typeface="Arial"/>
              </a:defRPr>
            </a:pPr>
            <a:r>
              <a:rPr dirty="0"/>
              <a:t>2</a:t>
            </a:r>
            <a:r>
              <a:rPr lang="en-US" dirty="0"/>
              <a:t>.</a:t>
            </a:r>
            <a:r>
              <a:rPr dirty="0"/>
              <a:t> Performance &amp; Sub-Second Latency: </a:t>
            </a:r>
          </a:p>
          <a:p>
            <a:pPr>
              <a:spcAft>
                <a:spcPts val="700"/>
              </a:spcAft>
              <a:defRPr sz="950">
                <a:solidFill>
                  <a:srgbClr val="475569"/>
                </a:solidFill>
                <a:latin typeface="Arial"/>
              </a:defRPr>
            </a:pPr>
            <a:r>
              <a:rPr dirty="0"/>
              <a:t>API response latency </a:t>
            </a:r>
            <a:r>
              <a:rPr lang="en-US" dirty="0"/>
              <a:t>should be low</a:t>
            </a:r>
            <a:endParaRPr dirty="0"/>
          </a:p>
          <a:p>
            <a:pPr>
              <a:spcAft>
                <a:spcPts val="100"/>
              </a:spcAft>
              <a:defRPr sz="1050" b="1">
                <a:solidFill>
                  <a:srgbClr val="0F172A"/>
                </a:solidFill>
                <a:latin typeface="Arial"/>
              </a:defRPr>
            </a:pPr>
            <a:r>
              <a:rPr dirty="0"/>
              <a:t>3</a:t>
            </a:r>
            <a:r>
              <a:rPr lang="en-US" dirty="0"/>
              <a:t>.</a:t>
            </a:r>
            <a:r>
              <a:rPr dirty="0"/>
              <a:t> Data Integrity &amp; Reliability: </a:t>
            </a:r>
          </a:p>
          <a:p>
            <a:pPr>
              <a:spcAft>
                <a:spcPts val="700"/>
              </a:spcAft>
              <a:defRPr sz="950">
                <a:solidFill>
                  <a:srgbClr val="475569"/>
                </a:solidFill>
                <a:latin typeface="Arial"/>
              </a:defRPr>
            </a:pPr>
            <a:r>
              <a:rPr dirty="0"/>
              <a:t>Relational ACID compliance in PostgreSQL preventing slot conflicts and orphaned medical records.</a:t>
            </a:r>
          </a:p>
          <a:p>
            <a:pPr>
              <a:spcAft>
                <a:spcPts val="100"/>
              </a:spcAft>
              <a:defRPr sz="1050" b="1">
                <a:solidFill>
                  <a:srgbClr val="0F172A"/>
                </a:solidFill>
                <a:latin typeface="Arial"/>
              </a:defRPr>
            </a:pPr>
            <a:r>
              <a:rPr lang="en-US" dirty="0"/>
              <a:t>4.</a:t>
            </a:r>
            <a:r>
              <a:rPr dirty="0"/>
              <a:t> Usability &amp; Accessibility: </a:t>
            </a:r>
          </a:p>
          <a:p>
            <a:pPr>
              <a:spcAft>
                <a:spcPts val="700"/>
              </a:spcAft>
              <a:defRPr sz="950">
                <a:solidFill>
                  <a:srgbClr val="475569"/>
                </a:solidFill>
                <a:latin typeface="Arial"/>
              </a:defRPr>
            </a:pPr>
            <a:r>
              <a:rPr dirty="0"/>
              <a:t>Clean clinical teal/slate theme, mobile/desktop responsiveness, and WCAG AA contrast compliance.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365760"/>
            <a:ext cx="9144000" cy="320040"/>
          </a:xfrm>
          <a:prstGeom prst="rect">
            <a:avLst/>
          </a:prstGeom>
          <a:noFill/>
        </p:spPr>
        <p:txBody>
          <a:bodyPr wrap="square" lIns="0" tIns="0" rIns="0" bIns="0">
            <a:spAutoFit/>
          </a:bodyPr>
          <a:lstStyle/>
          <a:p>
            <a:pPr>
              <a:defRPr sz="1050" b="1">
                <a:solidFill>
                  <a:srgbClr val="0D9488"/>
                </a:solidFill>
                <a:latin typeface="Arial"/>
              </a:defRPr>
            </a:pPr>
            <a:r>
              <a:t>IMPACT &amp; ROADMAP</a:t>
            </a:r>
          </a:p>
        </p:txBody>
      </p:sp>
      <p:sp>
        <p:nvSpPr>
          <p:cNvPr id="5" name="TextBox 4"/>
          <p:cNvSpPr txBox="1"/>
          <p:nvPr/>
        </p:nvSpPr>
        <p:spPr>
          <a:xfrm>
            <a:off x="731520" y="658368"/>
            <a:ext cx="9601200" cy="594360"/>
          </a:xfrm>
          <a:prstGeom prst="rect">
            <a:avLst/>
          </a:prstGeom>
          <a:noFill/>
        </p:spPr>
        <p:txBody>
          <a:bodyPr wrap="square" lIns="0" tIns="0" rIns="0" bIns="0">
            <a:spAutoFit/>
          </a:bodyPr>
          <a:lstStyle/>
          <a:p>
            <a:pPr>
              <a:defRPr sz="2200" b="1">
                <a:solidFill>
                  <a:srgbClr val="0F172A"/>
                </a:solidFill>
                <a:latin typeface="Arial"/>
              </a:defRPr>
            </a:pPr>
            <a:r>
              <a:t>Project Demonstration, Clinical Impact &amp; Future Scope</a:t>
            </a:r>
          </a:p>
        </p:txBody>
      </p:sp>
      <p:sp>
        <p:nvSpPr>
          <p:cNvPr id="6" name="Rounded Rectangle 5"/>
          <p:cNvSpPr/>
          <p:nvPr/>
        </p:nvSpPr>
        <p:spPr>
          <a:xfrm>
            <a:off x="10607040" y="411480"/>
            <a:ext cx="822960" cy="320040"/>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F172A"/>
                </a:solidFill>
                <a:latin typeface="Arial"/>
              </a:defRPr>
            </a:pPr>
            <a:r>
              <a:rPr lang="en-US" dirty="0"/>
              <a:t>5</a:t>
            </a:r>
            <a:r>
              <a:rPr dirty="0"/>
              <a:t>/ </a:t>
            </a:r>
            <a:r>
              <a:rPr lang="en-US" dirty="0"/>
              <a:t>5</a:t>
            </a:r>
            <a:endParaRPr dirty="0"/>
          </a:p>
        </p:txBody>
      </p:sp>
      <p:sp>
        <p:nvSpPr>
          <p:cNvPr id="7" name="TextBox 6"/>
          <p:cNvSpPr txBox="1"/>
          <p:nvPr/>
        </p:nvSpPr>
        <p:spPr>
          <a:xfrm>
            <a:off x="731520" y="6446520"/>
            <a:ext cx="10728655" cy="274320"/>
          </a:xfrm>
          <a:prstGeom prst="rect">
            <a:avLst/>
          </a:prstGeom>
          <a:noFill/>
        </p:spPr>
        <p:txBody>
          <a:bodyPr wrap="none" lIns="0" tIns="0" rIns="0" bIns="0">
            <a:spAutoFit/>
          </a:bodyPr>
          <a:lstStyle/>
          <a:p>
            <a:pPr>
              <a:defRPr sz="900">
                <a:solidFill>
                  <a:srgbClr val="64748B"/>
                </a:solidFill>
                <a:latin typeface="Arial"/>
              </a:defRPr>
            </a:pPr>
            <a:r>
              <a:t>MediFlow  •  Intelligent Healthcare Management &amp; Clinical Decision Support System</a:t>
            </a:r>
          </a:p>
        </p:txBody>
      </p:sp>
      <p:sp>
        <p:nvSpPr>
          <p:cNvPr id="8" name="Rounded Rectangle 7"/>
          <p:cNvSpPr/>
          <p:nvPr/>
        </p:nvSpPr>
        <p:spPr>
          <a:xfrm>
            <a:off x="731520" y="1463040"/>
            <a:ext cx="3383280" cy="46634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926592" y="1691640"/>
            <a:ext cx="3017520" cy="411480"/>
          </a:xfrm>
          <a:prstGeom prst="roundRect">
            <a:avLst/>
          </a:prstGeom>
          <a:solidFill>
            <a:srgbClr val="F0FDFA"/>
          </a:solidFill>
          <a:ln>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D9488"/>
                </a:solidFill>
                <a:latin typeface="Arial"/>
              </a:defRPr>
            </a:pPr>
            <a:r>
              <a:rPr lang="en-US" dirty="0"/>
              <a:t>SOFTWARE REQUIREMENTS</a:t>
            </a:r>
            <a:endParaRPr dirty="0"/>
          </a:p>
        </p:txBody>
      </p:sp>
      <p:sp>
        <p:nvSpPr>
          <p:cNvPr id="10" name="TextBox 9"/>
          <p:cNvSpPr txBox="1"/>
          <p:nvPr/>
        </p:nvSpPr>
        <p:spPr>
          <a:xfrm>
            <a:off x="914400" y="2286000"/>
            <a:ext cx="3017520" cy="2805896"/>
          </a:xfrm>
          <a:prstGeom prst="rect">
            <a:avLst/>
          </a:prstGeom>
          <a:noFill/>
        </p:spPr>
        <p:txBody>
          <a:bodyPr wrap="square" lIns="0" tIns="0" rIns="0" bIns="0">
            <a:spAutoFit/>
          </a:bodyPr>
          <a:lstStyle/>
          <a:p>
            <a:pPr>
              <a:spcAft>
                <a:spcPts val="200"/>
              </a:spcAft>
              <a:defRPr sz="1050" b="1">
                <a:solidFill>
                  <a:srgbClr val="0F172A"/>
                </a:solidFill>
                <a:latin typeface="Arial"/>
              </a:defRPr>
            </a:pPr>
            <a:r>
              <a:rPr dirty="0"/>
              <a:t>•  </a:t>
            </a:r>
            <a:r>
              <a:rPr lang="en-US" dirty="0"/>
              <a:t>Frontend</a:t>
            </a:r>
            <a:r>
              <a:rPr dirty="0"/>
              <a:t>:</a:t>
            </a:r>
          </a:p>
          <a:p>
            <a:pPr>
              <a:spcAft>
                <a:spcPts val="800"/>
              </a:spcAft>
              <a:defRPr sz="950">
                <a:solidFill>
                  <a:srgbClr val="475569"/>
                </a:solidFill>
                <a:latin typeface="Arial"/>
              </a:defRPr>
            </a:pPr>
            <a:r>
              <a:rPr dirty="0"/>
              <a:t>   </a:t>
            </a:r>
            <a:r>
              <a:rPr lang="en-IN" dirty="0"/>
              <a:t>React.js, HTML, CSS, JavaScript.</a:t>
            </a:r>
          </a:p>
          <a:p>
            <a:pPr>
              <a:spcAft>
                <a:spcPts val="200"/>
              </a:spcAft>
              <a:defRPr sz="1050" b="1">
                <a:solidFill>
                  <a:srgbClr val="0F172A"/>
                </a:solidFill>
                <a:latin typeface="Arial"/>
              </a:defRPr>
            </a:pPr>
            <a:r>
              <a:rPr dirty="0"/>
              <a:t>•  </a:t>
            </a:r>
            <a:r>
              <a:rPr lang="en-US" dirty="0"/>
              <a:t>Backend</a:t>
            </a:r>
            <a:r>
              <a:rPr dirty="0"/>
              <a:t>:</a:t>
            </a:r>
          </a:p>
          <a:p>
            <a:pPr>
              <a:spcAft>
                <a:spcPts val="800"/>
              </a:spcAft>
              <a:defRPr sz="950">
                <a:solidFill>
                  <a:srgbClr val="475569"/>
                </a:solidFill>
                <a:latin typeface="Arial"/>
              </a:defRPr>
            </a:pPr>
            <a:r>
              <a:rPr dirty="0"/>
              <a:t>   </a:t>
            </a:r>
            <a:r>
              <a:rPr lang="en-US" dirty="0"/>
              <a:t>Django REST Framework</a:t>
            </a:r>
            <a:endParaRPr dirty="0"/>
          </a:p>
          <a:p>
            <a:pPr>
              <a:spcAft>
                <a:spcPts val="200"/>
              </a:spcAft>
              <a:defRPr sz="1050" b="1">
                <a:solidFill>
                  <a:srgbClr val="0F172A"/>
                </a:solidFill>
                <a:latin typeface="Arial"/>
              </a:defRPr>
            </a:pPr>
            <a:r>
              <a:rPr dirty="0"/>
              <a:t>•  </a:t>
            </a:r>
            <a:r>
              <a:rPr lang="en-US" dirty="0"/>
              <a:t>Database:</a:t>
            </a:r>
            <a:endParaRPr dirty="0"/>
          </a:p>
          <a:p>
            <a:pPr>
              <a:spcAft>
                <a:spcPts val="800"/>
              </a:spcAft>
              <a:defRPr sz="950">
                <a:solidFill>
                  <a:srgbClr val="475569"/>
                </a:solidFill>
                <a:latin typeface="Arial"/>
              </a:defRPr>
            </a:pPr>
            <a:r>
              <a:rPr dirty="0"/>
              <a:t>   </a:t>
            </a:r>
            <a:r>
              <a:rPr lang="en-US" dirty="0" err="1"/>
              <a:t>Postgresql</a:t>
            </a:r>
            <a:r>
              <a:rPr lang="en-US" dirty="0"/>
              <a:t>/ MySQL</a:t>
            </a:r>
            <a:endParaRPr dirty="0"/>
          </a:p>
          <a:p>
            <a:pPr>
              <a:spcAft>
                <a:spcPts val="200"/>
              </a:spcAft>
              <a:defRPr sz="1050" b="1">
                <a:solidFill>
                  <a:srgbClr val="0F172A"/>
                </a:solidFill>
                <a:latin typeface="Arial"/>
              </a:defRPr>
            </a:pPr>
            <a:r>
              <a:rPr dirty="0"/>
              <a:t>•  </a:t>
            </a:r>
            <a:r>
              <a:rPr lang="en-US" dirty="0"/>
              <a:t>Machine Learning</a:t>
            </a:r>
            <a:r>
              <a:rPr dirty="0"/>
              <a:t>:</a:t>
            </a:r>
          </a:p>
          <a:p>
            <a:pPr>
              <a:spcAft>
                <a:spcPts val="800"/>
              </a:spcAft>
              <a:defRPr sz="950">
                <a:solidFill>
                  <a:srgbClr val="475569"/>
                </a:solidFill>
                <a:latin typeface="Arial"/>
              </a:defRPr>
            </a:pPr>
            <a:r>
              <a:rPr dirty="0"/>
              <a:t>   </a:t>
            </a:r>
            <a:r>
              <a:rPr lang="en-US" dirty="0"/>
              <a:t>Python with ML libraries for predictions and decision support.</a:t>
            </a:r>
          </a:p>
          <a:p>
            <a:pPr>
              <a:spcAft>
                <a:spcPts val="800"/>
              </a:spcAft>
              <a:defRPr sz="950">
                <a:solidFill>
                  <a:srgbClr val="475569"/>
                </a:solidFill>
                <a:latin typeface="Arial"/>
              </a:defRPr>
            </a:pPr>
            <a:r>
              <a:rPr lang="en-US" sz="1100" b="1" dirty="0"/>
              <a:t>.</a:t>
            </a:r>
            <a:r>
              <a:rPr lang="en-US" sz="1100" b="1" dirty="0" err="1"/>
              <a:t>Develepor</a:t>
            </a:r>
            <a:r>
              <a:rPr lang="en-US" sz="1100" b="1" dirty="0"/>
              <a:t> Tools:</a:t>
            </a:r>
          </a:p>
          <a:p>
            <a:pPr>
              <a:spcAft>
                <a:spcPts val="800"/>
              </a:spcAft>
              <a:defRPr sz="950">
                <a:solidFill>
                  <a:srgbClr val="475569"/>
                </a:solidFill>
                <a:latin typeface="Arial"/>
              </a:defRPr>
            </a:pPr>
            <a:r>
              <a:rPr lang="en-US" dirty="0"/>
              <a:t>VS Code and Web Browser</a:t>
            </a:r>
          </a:p>
          <a:p>
            <a:pPr>
              <a:spcAft>
                <a:spcPts val="800"/>
              </a:spcAft>
              <a:defRPr sz="950">
                <a:solidFill>
                  <a:srgbClr val="475569"/>
                </a:solidFill>
                <a:latin typeface="Arial"/>
              </a:defRPr>
            </a:pPr>
            <a:r>
              <a:rPr lang="en-US" sz="1100" b="1" dirty="0"/>
              <a:t>.Version Control:</a:t>
            </a:r>
          </a:p>
          <a:p>
            <a:pPr>
              <a:spcAft>
                <a:spcPts val="800"/>
              </a:spcAft>
              <a:defRPr sz="950">
                <a:solidFill>
                  <a:srgbClr val="475569"/>
                </a:solidFill>
                <a:latin typeface="Arial"/>
              </a:defRPr>
            </a:pPr>
            <a:r>
              <a:rPr lang="en-US" dirty="0"/>
              <a:t>Git and </a:t>
            </a:r>
            <a:r>
              <a:rPr lang="en-US" dirty="0" err="1"/>
              <a:t>Github</a:t>
            </a:r>
            <a:endParaRPr dirty="0"/>
          </a:p>
        </p:txBody>
      </p:sp>
      <p:sp>
        <p:nvSpPr>
          <p:cNvPr id="11" name="Rounded Rectangle 10"/>
          <p:cNvSpPr/>
          <p:nvPr/>
        </p:nvSpPr>
        <p:spPr>
          <a:xfrm>
            <a:off x="4398264" y="1463040"/>
            <a:ext cx="3383280" cy="46634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4581144" y="1691640"/>
            <a:ext cx="3017520" cy="411480"/>
          </a:xfrm>
          <a:prstGeom prst="roundRect">
            <a:avLst/>
          </a:prstGeom>
          <a:solidFill>
            <a:srgbClr val="F0F9FF"/>
          </a:solidFill>
          <a:ln>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284C7"/>
                </a:solidFill>
                <a:latin typeface="Arial"/>
              </a:defRPr>
            </a:pPr>
            <a:r>
              <a:rPr lang="en-US" dirty="0"/>
              <a:t>HARDWARE REQUIREMENTS</a:t>
            </a:r>
            <a:endParaRPr dirty="0"/>
          </a:p>
        </p:txBody>
      </p:sp>
      <p:sp>
        <p:nvSpPr>
          <p:cNvPr id="13" name="TextBox 12"/>
          <p:cNvSpPr txBox="1"/>
          <p:nvPr/>
        </p:nvSpPr>
        <p:spPr>
          <a:xfrm>
            <a:off x="4589533" y="2286000"/>
            <a:ext cx="3017520" cy="2185214"/>
          </a:xfrm>
          <a:prstGeom prst="rect">
            <a:avLst/>
          </a:prstGeom>
          <a:noFill/>
        </p:spPr>
        <p:txBody>
          <a:bodyPr wrap="square" lIns="0" tIns="0" rIns="0" bIns="0">
            <a:spAutoFit/>
          </a:bodyPr>
          <a:lstStyle/>
          <a:p>
            <a:pPr>
              <a:spcAft>
                <a:spcPts val="200"/>
              </a:spcAft>
              <a:defRPr sz="1050" b="1">
                <a:solidFill>
                  <a:srgbClr val="0F172A"/>
                </a:solidFill>
                <a:latin typeface="Arial"/>
              </a:defRPr>
            </a:pPr>
            <a:r>
              <a:rPr dirty="0"/>
              <a:t>•  </a:t>
            </a:r>
            <a:r>
              <a:rPr lang="en-US" dirty="0"/>
              <a:t>Processor</a:t>
            </a:r>
            <a:r>
              <a:rPr dirty="0"/>
              <a:t>:</a:t>
            </a:r>
          </a:p>
          <a:p>
            <a:pPr>
              <a:spcAft>
                <a:spcPts val="800"/>
              </a:spcAft>
              <a:defRPr sz="950">
                <a:solidFill>
                  <a:srgbClr val="475569"/>
                </a:solidFill>
                <a:latin typeface="Arial"/>
              </a:defRPr>
            </a:pPr>
            <a:r>
              <a:rPr dirty="0"/>
              <a:t>   </a:t>
            </a:r>
            <a:r>
              <a:rPr lang="en-IN" dirty="0"/>
              <a:t> Intel i5 or equivalent processor.</a:t>
            </a:r>
            <a:r>
              <a:rPr dirty="0"/>
              <a:t>.</a:t>
            </a:r>
          </a:p>
          <a:p>
            <a:pPr>
              <a:spcAft>
                <a:spcPts val="200"/>
              </a:spcAft>
              <a:defRPr sz="1050" b="1">
                <a:solidFill>
                  <a:srgbClr val="0F172A"/>
                </a:solidFill>
                <a:latin typeface="Arial"/>
              </a:defRPr>
            </a:pPr>
            <a:r>
              <a:rPr dirty="0"/>
              <a:t>•  </a:t>
            </a:r>
            <a:r>
              <a:rPr lang="en-US" dirty="0"/>
              <a:t>RAM</a:t>
            </a:r>
            <a:r>
              <a:rPr dirty="0"/>
              <a:t>:</a:t>
            </a:r>
          </a:p>
          <a:p>
            <a:pPr>
              <a:spcAft>
                <a:spcPts val="800"/>
              </a:spcAft>
              <a:defRPr sz="950">
                <a:solidFill>
                  <a:srgbClr val="475569"/>
                </a:solidFill>
                <a:latin typeface="Arial"/>
              </a:defRPr>
            </a:pPr>
            <a:r>
              <a:rPr dirty="0"/>
              <a:t>   </a:t>
            </a:r>
            <a:r>
              <a:rPr lang="en-IN" dirty="0"/>
              <a:t>Minimum 8 GB RAM.</a:t>
            </a:r>
            <a:r>
              <a:rPr dirty="0"/>
              <a:t>.</a:t>
            </a:r>
          </a:p>
          <a:p>
            <a:pPr>
              <a:spcAft>
                <a:spcPts val="200"/>
              </a:spcAft>
              <a:defRPr sz="1050" b="1">
                <a:solidFill>
                  <a:srgbClr val="0F172A"/>
                </a:solidFill>
                <a:latin typeface="Arial"/>
              </a:defRPr>
            </a:pPr>
            <a:r>
              <a:rPr dirty="0"/>
              <a:t>•  </a:t>
            </a:r>
            <a:r>
              <a:rPr lang="en-US" dirty="0"/>
              <a:t>Storage:</a:t>
            </a:r>
            <a:endParaRPr dirty="0"/>
          </a:p>
          <a:p>
            <a:pPr>
              <a:spcAft>
                <a:spcPts val="800"/>
              </a:spcAft>
              <a:defRPr sz="950">
                <a:solidFill>
                  <a:srgbClr val="475569"/>
                </a:solidFill>
                <a:latin typeface="Arial"/>
              </a:defRPr>
            </a:pPr>
            <a:r>
              <a:rPr dirty="0"/>
              <a:t>   </a:t>
            </a:r>
            <a:r>
              <a:rPr lang="en-US" dirty="0"/>
              <a:t>At least 256 GB available storage.</a:t>
            </a:r>
            <a:endParaRPr dirty="0"/>
          </a:p>
          <a:p>
            <a:pPr>
              <a:spcAft>
                <a:spcPts val="200"/>
              </a:spcAft>
              <a:defRPr sz="1050" b="1">
                <a:solidFill>
                  <a:srgbClr val="0F172A"/>
                </a:solidFill>
                <a:latin typeface="Arial"/>
              </a:defRPr>
            </a:pPr>
            <a:r>
              <a:rPr dirty="0"/>
              <a:t>•  </a:t>
            </a:r>
            <a:r>
              <a:rPr lang="en-IN" dirty="0"/>
              <a:t>Display</a:t>
            </a:r>
            <a:r>
              <a:rPr dirty="0"/>
              <a:t>:</a:t>
            </a:r>
          </a:p>
          <a:p>
            <a:pPr>
              <a:spcAft>
                <a:spcPts val="800"/>
              </a:spcAft>
              <a:defRPr sz="950">
                <a:solidFill>
                  <a:srgbClr val="475569"/>
                </a:solidFill>
                <a:latin typeface="Arial"/>
              </a:defRPr>
            </a:pPr>
            <a:r>
              <a:rPr lang="en-US" dirty="0"/>
              <a:t> Monitor or laptop screen for using the system.</a:t>
            </a:r>
          </a:p>
          <a:p>
            <a:pPr>
              <a:spcAft>
                <a:spcPts val="800"/>
              </a:spcAft>
              <a:defRPr sz="950">
                <a:solidFill>
                  <a:srgbClr val="475569"/>
                </a:solidFill>
                <a:latin typeface="Arial"/>
              </a:defRPr>
            </a:pPr>
            <a:r>
              <a:rPr lang="en-US" dirty="0"/>
              <a:t>.</a:t>
            </a:r>
            <a:r>
              <a:rPr lang="en-US" sz="1100" b="1" dirty="0"/>
              <a:t>Internet:</a:t>
            </a:r>
          </a:p>
          <a:p>
            <a:pPr>
              <a:spcAft>
                <a:spcPts val="800"/>
              </a:spcAft>
              <a:defRPr sz="950">
                <a:solidFill>
                  <a:srgbClr val="475569"/>
                </a:solidFill>
                <a:latin typeface="Arial"/>
              </a:defRPr>
            </a:pPr>
            <a:r>
              <a:rPr lang="en-IN" sz="1100" b="1" dirty="0"/>
              <a:t> </a:t>
            </a:r>
            <a:r>
              <a:rPr lang="en-IN" sz="950" dirty="0"/>
              <a:t>Stable internet connection.</a:t>
            </a:r>
            <a:endParaRPr sz="950" dirty="0"/>
          </a:p>
        </p:txBody>
      </p:sp>
      <p:sp>
        <p:nvSpPr>
          <p:cNvPr id="14" name="Rounded Rectangle 13"/>
          <p:cNvSpPr/>
          <p:nvPr/>
        </p:nvSpPr>
        <p:spPr>
          <a:xfrm>
            <a:off x="8065008" y="1463040"/>
            <a:ext cx="3383280" cy="46634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8247888" y="1691640"/>
            <a:ext cx="3017520" cy="411480"/>
          </a:xfrm>
          <a:prstGeom prst="roundRect">
            <a:avLst/>
          </a:prstGeom>
          <a:solidFill>
            <a:srgbClr val="FEF3C7"/>
          </a:solidFill>
          <a:ln>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D97706"/>
                </a:solidFill>
                <a:latin typeface="Arial"/>
              </a:defRPr>
            </a:pPr>
            <a:r>
              <a:t>FUTURE TECHNOLOGICAL SCOPE</a:t>
            </a:r>
          </a:p>
        </p:txBody>
      </p:sp>
      <p:sp>
        <p:nvSpPr>
          <p:cNvPr id="16" name="TextBox 15"/>
          <p:cNvSpPr txBox="1"/>
          <p:nvPr/>
        </p:nvSpPr>
        <p:spPr>
          <a:xfrm>
            <a:off x="8247888" y="2286000"/>
            <a:ext cx="3017520" cy="1644040"/>
          </a:xfrm>
          <a:prstGeom prst="rect">
            <a:avLst/>
          </a:prstGeom>
          <a:noFill/>
        </p:spPr>
        <p:txBody>
          <a:bodyPr wrap="square" lIns="0" tIns="0" rIns="0" bIns="0">
            <a:spAutoFit/>
          </a:bodyPr>
          <a:lstStyle/>
          <a:p>
            <a:pPr>
              <a:spcAft>
                <a:spcPts val="200"/>
              </a:spcAft>
              <a:defRPr sz="1050" b="1">
                <a:solidFill>
                  <a:srgbClr val="0F172A"/>
                </a:solidFill>
                <a:latin typeface="Arial"/>
              </a:defRPr>
            </a:pPr>
            <a:r>
              <a:rPr dirty="0"/>
              <a:t>•  Deep Learning Image Diagnostics:</a:t>
            </a:r>
          </a:p>
          <a:p>
            <a:pPr>
              <a:spcAft>
                <a:spcPts val="800"/>
              </a:spcAft>
              <a:defRPr sz="950">
                <a:solidFill>
                  <a:srgbClr val="475569"/>
                </a:solidFill>
                <a:latin typeface="Arial"/>
              </a:defRPr>
            </a:pPr>
            <a:r>
              <a:rPr dirty="0"/>
              <a:t>   Expanding ML engine to include </a:t>
            </a:r>
            <a:r>
              <a:rPr dirty="0" err="1"/>
              <a:t>PyTorch</a:t>
            </a:r>
            <a:r>
              <a:rPr dirty="0"/>
              <a:t> CNN models for Chest X-Ray and CT scans.</a:t>
            </a:r>
          </a:p>
          <a:p>
            <a:pPr>
              <a:spcAft>
                <a:spcPts val="200"/>
              </a:spcAft>
              <a:defRPr sz="1050" b="1">
                <a:solidFill>
                  <a:srgbClr val="0F172A"/>
                </a:solidFill>
                <a:latin typeface="Arial"/>
              </a:defRPr>
            </a:pPr>
            <a:r>
              <a:rPr dirty="0"/>
              <a:t>•  NLP Report Summarization:</a:t>
            </a:r>
          </a:p>
          <a:p>
            <a:pPr>
              <a:spcAft>
                <a:spcPts val="800"/>
              </a:spcAft>
              <a:defRPr sz="950">
                <a:solidFill>
                  <a:srgbClr val="475569"/>
                </a:solidFill>
                <a:latin typeface="Arial"/>
              </a:defRPr>
            </a:pPr>
            <a:r>
              <a:rPr dirty="0"/>
              <a:t>   Extracting structured clinical findings from unstructured PDF lab reports using </a:t>
            </a:r>
            <a:r>
              <a:rPr dirty="0" err="1"/>
              <a:t>BioBERT</a:t>
            </a:r>
            <a:r>
              <a:rPr dirty="0"/>
              <a:t>.</a:t>
            </a:r>
          </a:p>
          <a:p>
            <a:pPr>
              <a:spcAft>
                <a:spcPts val="200"/>
              </a:spcAft>
              <a:defRPr sz="1050" b="1">
                <a:solidFill>
                  <a:srgbClr val="0F172A"/>
                </a:solidFill>
                <a:latin typeface="Arial"/>
              </a:defRPr>
            </a:pPr>
            <a:r>
              <a:rPr dirty="0"/>
              <a:t>•  Telemedicine Video Sessions:</a:t>
            </a:r>
          </a:p>
          <a:p>
            <a:pPr>
              <a:spcAft>
                <a:spcPts val="800"/>
              </a:spcAft>
              <a:defRPr sz="950">
                <a:solidFill>
                  <a:srgbClr val="475569"/>
                </a:solidFill>
                <a:latin typeface="Arial"/>
              </a:defRPr>
            </a:pPr>
            <a:r>
              <a:rPr dirty="0"/>
              <a:t>   Embedding WebRTC video consultations directly into the doctor-patient interface.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3847288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100</TotalTime>
  <Words>1205</Words>
  <Application>Microsoft Office PowerPoint</Application>
  <PresentationFormat>Widescreen</PresentationFormat>
  <Paragraphs>122</Paragraphs>
  <Slides>6</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bpavanraj701@gmail.com</cp:lastModifiedBy>
  <cp:revision>9</cp:revision>
  <dcterms:created xsi:type="dcterms:W3CDTF">2013-01-27T09:14:16Z</dcterms:created>
  <dcterms:modified xsi:type="dcterms:W3CDTF">2026-09-25T10:28:19Z</dcterms:modified>
  <cp:category/>
</cp:coreProperties>
</file>