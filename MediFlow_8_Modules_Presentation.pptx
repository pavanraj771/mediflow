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10728655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280160" y="1463040"/>
            <a:ext cx="4114800" cy="3657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0F766E"/>
                </a:solidFill>
                <a:latin typeface="Arial"/>
              </a:defRPr>
            </a:pPr>
            <a:r>
              <a:t>INTELLIGENT HEALTHCARE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01168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0F172A"/>
                </a:solidFill>
                <a:latin typeface="Arial"/>
              </a:defRPr>
            </a:pPr>
            <a:r>
              <a:t>MediFlow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0175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9488"/>
                </a:solidFill>
                <a:latin typeface="Arial"/>
              </a:defRPr>
            </a:pPr>
            <a:r>
              <a:t>Smart Hospital &amp; Clinical Care Management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611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Complete 8-Module Architecture: Easy Authentication, Multi-Role UI, Scheduling, AI Risk &amp; Security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4297680"/>
            <a:ext cx="2331720" cy="1280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tlCol="0" anchor="ctr"/>
          <a:lstStyle/>
          <a:p>
            <a:pPr algn="ctr">
              <a:defRPr sz="950" b="1">
                <a:solidFill>
                  <a:srgbClr val="0D9488"/>
                </a:solidFill>
                <a:latin typeface="Arial"/>
              </a:defRPr>
            </a:pPr>
            <a:r>
              <a:t>MODULES 1 &amp; 2</a:t>
            </a:r>
          </a:p>
          <a:p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Login &amp; Auth • OAuth</a:t>
            </a:r>
            <a:br/>
            <a:r>
              <a:t>3-Role UI &amp; Authorization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4297680"/>
            <a:ext cx="2331720" cy="1280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tlCol="0" anchor="ctr"/>
          <a:lstStyle/>
          <a:p>
            <a:pPr algn="ctr">
              <a:defRPr sz="950" b="1">
                <a:solidFill>
                  <a:srgbClr val="0284C7"/>
                </a:solidFill>
                <a:latin typeface="Arial"/>
              </a:defRPr>
            </a:pPr>
            <a:r>
              <a:t>TECH STACK</a:t>
            </a:r>
          </a:p>
          <a:p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React.js • Django REST</a:t>
            </a:r>
            <a:br/>
            <a:r>
              <a:t>PostgreSQL • JWT Auth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297680"/>
            <a:ext cx="2331720" cy="1280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tlCol="0" anchor="ctr"/>
          <a:lstStyle/>
          <a:p>
            <a:pPr algn="ctr">
              <a:defRPr sz="950" b="1">
                <a:solidFill>
                  <a:srgbClr val="7E22CE"/>
                </a:solidFill>
                <a:latin typeface="Arial"/>
              </a:defRPr>
            </a:pPr>
            <a:r>
              <a:t>CARE &amp; AI</a:t>
            </a:r>
          </a:p>
          <a:p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Doctor Schedules • EMR</a:t>
            </a:r>
            <a:br/>
            <a:r>
              <a:t>AI Risk Triage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4297680"/>
            <a:ext cx="2331720" cy="1280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tlCol="0" anchor="ctr"/>
          <a:lstStyle/>
          <a:p>
            <a:pPr algn="ctr">
              <a:defRPr sz="950" b="1">
                <a:solidFill>
                  <a:srgbClr val="D97706"/>
                </a:solidFill>
                <a:latin typeface="Arial"/>
              </a:defRPr>
            </a:pPr>
            <a:r>
              <a:t>SECURITY</a:t>
            </a:r>
          </a:p>
          <a:p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HIPAA Ready • Privacy</a:t>
            </a:r>
            <a:br/>
            <a:r>
              <a:t>Immutable Audit Logs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PROJECT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Executive Summary: Complete 8-Module System Division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07040" y="365760"/>
            <a:ext cx="86868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2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MediFlow  •  Smart Healthcare Platform  •  8 Modular System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25146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" y="1536192"/>
            <a:ext cx="1097280" cy="29260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0D9488"/>
                </a:solidFill>
                <a:latin typeface="Arial"/>
              </a:defRPr>
            </a:pPr>
            <a:r>
              <a:t>MODULE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01952"/>
            <a:ext cx="22402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rPr dirty="0"/>
              <a:t>User Authentication &amp; Login</a:t>
            </a:r>
          </a:p>
          <a:p>
            <a:pPr>
              <a:defRPr sz="919">
                <a:solidFill>
                  <a:srgbClr val="475569"/>
                </a:solidFill>
                <a:latin typeface="Arial"/>
              </a:defRPr>
            </a:pPr>
            <a:r>
              <a:rPr dirty="0"/>
              <a:t>Login page, email OTP code verification, JWT tokens, and Google OAuth sign-in.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5576" y="1371600"/>
            <a:ext cx="25146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602736" y="1536192"/>
            <a:ext cx="109728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0284C7"/>
                </a:solidFill>
                <a:latin typeface="Arial"/>
              </a:defRPr>
            </a:pPr>
            <a:r>
              <a:t>MODULE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1901952"/>
            <a:ext cx="22402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Multi-Role UI &amp; Access Control</a:t>
            </a:r>
          </a:p>
          <a:p>
            <a:pPr>
              <a:defRPr sz="919">
                <a:solidFill>
                  <a:srgbClr val="475569"/>
                </a:solidFill>
                <a:latin typeface="Arial"/>
              </a:defRPr>
            </a:pPr>
            <a:r>
              <a:t>Clean UI dashboards for Patient, Doctor, and Admin roles with RBAC protection.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371600"/>
            <a:ext cx="25146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36792" y="1536192"/>
            <a:ext cx="1097280" cy="292608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7E22CE"/>
                </a:solidFill>
                <a:latin typeface="Arial"/>
              </a:defRPr>
            </a:pPr>
            <a:r>
              <a:t>MODULE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1901952"/>
            <a:ext cx="22402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Doctor Scheduling Engine</a:t>
            </a:r>
          </a:p>
          <a:p>
            <a:pPr>
              <a:defRPr sz="919">
                <a:solidFill>
                  <a:srgbClr val="475569"/>
                </a:solidFill>
                <a:latin typeface="Arial"/>
              </a:defRPr>
            </a:pPr>
            <a:r>
              <a:t>Weekly shift planner, time slot creation, and dynamic slot availability calculation.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33688" y="1371600"/>
            <a:ext cx="25146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070848" y="1536192"/>
            <a:ext cx="1097280" cy="29260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D97706"/>
                </a:solidFill>
                <a:latin typeface="Arial"/>
              </a:defRPr>
            </a:pPr>
            <a:r>
              <a:t>MODULE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848" y="1901952"/>
            <a:ext cx="22402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Patient Portal &amp; Booking</a:t>
            </a:r>
          </a:p>
          <a:p>
            <a:pPr>
              <a:defRPr sz="919">
                <a:solidFill>
                  <a:srgbClr val="475569"/>
                </a:solidFill>
                <a:latin typeface="Arial"/>
              </a:defRPr>
            </a:pPr>
            <a:r>
              <a:t>Self-service appointment booking, doctor search by department, and visit cancellation.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67328"/>
            <a:ext cx="25146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68680" y="3931920"/>
            <a:ext cx="109728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059669"/>
                </a:solidFill>
                <a:latin typeface="Arial"/>
              </a:defRPr>
            </a:pPr>
            <a:r>
              <a:t>MODULE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297680"/>
            <a:ext cx="22402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Doctor Workstation &amp; EMR</a:t>
            </a:r>
          </a:p>
          <a:p>
            <a:pPr>
              <a:defRPr sz="919">
                <a:solidFill>
                  <a:srgbClr val="475569"/>
                </a:solidFill>
                <a:latin typeface="Arial"/>
              </a:defRPr>
            </a:pPr>
            <a:r>
              <a:t>Clinical queue management, patient vitals recording, and digital prescription generator.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65576" y="3767328"/>
            <a:ext cx="25146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602736" y="3931920"/>
            <a:ext cx="1097280" cy="292608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E11D48"/>
                </a:solidFill>
                <a:latin typeface="Arial"/>
              </a:defRPr>
            </a:pPr>
            <a:r>
              <a:t>MODULE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2736" y="4297680"/>
            <a:ext cx="22402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Explainable AI Risk Engine</a:t>
            </a:r>
          </a:p>
          <a:p>
            <a:pPr>
              <a:defRPr sz="919">
                <a:solidFill>
                  <a:srgbClr val="475569"/>
                </a:solidFill>
                <a:latin typeface="Arial"/>
              </a:defRPr>
            </a:pPr>
            <a:r>
              <a:t>AI risk score calculation, biomarker analysis, and SHAP explanation graphs.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2" y="3767328"/>
            <a:ext cx="25146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36792" y="3931920"/>
            <a:ext cx="1097280" cy="29260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0D9488"/>
                </a:solidFill>
                <a:latin typeface="Arial"/>
              </a:defRPr>
            </a:pPr>
            <a:r>
              <a:t>MODULE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4297680"/>
            <a:ext cx="22402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Hospital Admin &amp; Operations</a:t>
            </a:r>
          </a:p>
          <a:p>
            <a:pPr>
              <a:defRPr sz="919">
                <a:solidFill>
                  <a:srgbClr val="475569"/>
                </a:solidFill>
                <a:latin typeface="Arial"/>
              </a:defRPr>
            </a:pPr>
            <a:r>
              <a:t>Doctor request approvals, department rosters, staff directory, and footfall metrics.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33688" y="3767328"/>
            <a:ext cx="25146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070848" y="3931920"/>
            <a:ext cx="1097280" cy="292608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7E22CE"/>
                </a:solidFill>
                <a:latin typeface="Arial"/>
              </a:defRPr>
            </a:pPr>
            <a:r>
              <a:t>MODULE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0848" y="4297680"/>
            <a:ext cx="22402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Security, Privacy &amp; Audits</a:t>
            </a:r>
          </a:p>
          <a:p>
            <a:pPr>
              <a:defRPr sz="919">
                <a:solidFill>
                  <a:srgbClr val="475569"/>
                </a:solidFill>
                <a:latin typeface="Arial"/>
              </a:defRPr>
            </a:pPr>
            <a:r>
              <a:t>Data encryption, Protected Health Info isolation, and immutable user action 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Module 1: User Authentication &amp; Secure Login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07040" y="365760"/>
            <a:ext cx="86868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3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MediFlow  •  Smart Healthcare Platform  •  8 Modular System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1600200"/>
            <a:ext cx="3017520" cy="38404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0D9488"/>
                </a:solidFill>
                <a:latin typeface="Arial"/>
              </a:defRPr>
            </a:pPr>
            <a:r>
              <a:t>LOGIN &amp; SIGNUP 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30175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rPr dirty="0"/>
              <a:t>•  Clean Login Form: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rPr dirty="0"/>
              <a:t>    Simple login page with email/username and password inputs.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rPr dirty="0"/>
              <a:t>•  Patient Registration: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rPr dirty="0"/>
              <a:t>    Quick signup form for new patients with instant account creation.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rPr dirty="0"/>
              <a:t>•  Doctor Registration: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rPr dirty="0"/>
              <a:t>    Doctor signup request form with specialty and license selection.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rPr dirty="0"/>
              <a:t>•  Input Validation: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rPr dirty="0"/>
              <a:t>    Prevents empty fields, invalid emails, and weak passwords.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81144" y="1600200"/>
            <a:ext cx="3017520" cy="38404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0284C7"/>
                </a:solidFill>
                <a:latin typeface="Arial"/>
              </a:defRPr>
            </a:pPr>
            <a:r>
              <a:t>EMAIL OTP &amp; GOOGLE OAUTH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2148840"/>
            <a:ext cx="30175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rPr dirty="0"/>
              <a:t>•  Email OTP Code: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rPr dirty="0"/>
              <a:t>    Generates 6-digit OTP sent via email for user identity verification.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rPr dirty="0"/>
              <a:t>•  Google One-Tap OAuth: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rPr dirty="0"/>
              <a:t>    Allows fast 1-click login using existing Google accounts.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rPr dirty="0"/>
              <a:t>•  Secure OTP Expiry: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rPr dirty="0"/>
              <a:t>    OTP code automatically expires after 10 minutes for safety.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rPr dirty="0"/>
              <a:t>•  Smooth UX Flow: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rPr dirty="0"/>
              <a:t>    Inline verification status with error messages if code is wrong.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47888" y="1600200"/>
            <a:ext cx="301752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JWT SECURITY TOKENS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148840"/>
            <a:ext cx="30175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rPr dirty="0"/>
              <a:t>•  Stateless JWT Tokens: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rPr dirty="0"/>
              <a:t>    Issues secure Access Token and Refresh Token upon successful login.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rPr dirty="0"/>
              <a:t>•  Password Hashing: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rPr dirty="0"/>
              <a:t>    Stores passwords safely using strong password hashing algorithms.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rPr dirty="0"/>
              <a:t>•  Auto Token Refresh: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rPr dirty="0"/>
              <a:t>    Refreshes session automatically without asking user to re-login.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rPr dirty="0"/>
              <a:t>•  Secure Logout: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rPr dirty="0"/>
              <a:t>    Clears tokens from local memory on logout to end user session.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Module 2: Basic UI Design of 3 Roles &amp; Authorization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07040" y="365760"/>
            <a:ext cx="86868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4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MediFlow  •  Smart Healthcare Platform  •  8 Modular System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1600200"/>
            <a:ext cx="3017520" cy="38404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0284C7"/>
                </a:solidFill>
                <a:latin typeface="Arial"/>
              </a:defRPr>
            </a:pPr>
            <a:r>
              <a:t>3 ROLE DASHBOARD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30175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Patient Dashboard: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Clean view for patients to manage appointments and health profile.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Doctor Workstation: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Emerald-themed clinical portal for schedules and patient visits.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Admin Workspace: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Central dashboard for managing hospital staff and doctor approvals.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Modern Visual Theme: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Glassmorphism UI, dual dark/light mode, and clear typography.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81144" y="1600200"/>
            <a:ext cx="3017520" cy="38404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0D9488"/>
                </a:solidFill>
                <a:latin typeface="Arial"/>
              </a:defRPr>
            </a:pPr>
            <a:r>
              <a:t>AUTHORIZATION (RBAC)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2148840"/>
            <a:ext cx="30175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Role Boundaries: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Strict access rules: Patient, Doctor, and Hospital Administrator.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Route Protection: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Unapproved users are redirected automatically to their authorized portal.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API Endpoint Guard: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Backend verifies user role token on every API request.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No Unauthorized Access: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Patients cannot open doctor files; doctors cannot change admin settings.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47888" y="1600200"/>
            <a:ext cx="301752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HEADER &amp; NAVIGATION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148840"/>
            <a:ext cx="3017520" cy="1644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rPr dirty="0"/>
              <a:t>•  Top Navigation Bar: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rPr dirty="0"/>
              <a:t>    Displays brand logo, active theme switcher, and role indicator.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rPr dirty="0"/>
              <a:t>•  Patient Avatar Dropdown: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rPr dirty="0"/>
              <a:t>    Quick menu for patient profile, appointments, and logout.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rPr dirty="0"/>
              <a:t>•  Doctor Avatar Dropdown: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rPr dirty="0"/>
              <a:t>    Quick menu for doctor schedule, workstation, and logout.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Module 3: Doctor Scheduling &amp; Dynamic Slot Generator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07040" y="365760"/>
            <a:ext cx="86868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5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MediFlow  •  Smart Healthcare Platform  •  8 Modular System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1600200"/>
            <a:ext cx="3017520" cy="384048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7E22CE"/>
                </a:solidFill>
                <a:latin typeface="Arial"/>
              </a:defRPr>
            </a:pPr>
            <a:r>
              <a:t>WEEKLY SCHEDULE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30175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Working Days Config: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Doctors select working days (e.g. Monday to Friday).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Shift Timings: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Doctors set start time and end time (e.g. 09:00 AM to 05:00 PM).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Slot Duration: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Flexible consultation slot length (15, 20, 30, or 60 minutes).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Easy Schedule Edit: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Doctors can add, edit, or remove working days in one click.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81144" y="1600200"/>
            <a:ext cx="3017520" cy="38404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0D9488"/>
                </a:solidFill>
                <a:latin typeface="Arial"/>
              </a:defRPr>
            </a:pPr>
            <a:r>
              <a:t>DYNAMIC SLOT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2148840"/>
            <a:ext cx="30175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Automatic Calculation: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System generates exact time slots from doctor work hours.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Booked Slot Removal: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Already booked slots disappear immediately from available list.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Doctor Leave Blocks: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Blocks out time slots when doctor is on leave or break.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Real-Time Availability: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Always shows accurate available time slots to patients.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47888" y="1600200"/>
            <a:ext cx="3017520" cy="38404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0284C7"/>
                </a:solidFill>
                <a:latin typeface="Arial"/>
              </a:defRPr>
            </a:pPr>
            <a:r>
              <a:t>CONFLICT PREVENTION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148840"/>
            <a:ext cx="30175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Database Locking: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Uses database transactions to prevent double-booking.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Single Patient Rule: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A time slot can only be booked by one patient at a time.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Instant Status Update: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Changes slot state from Available to Scheduled upon booking.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Clean Error Handling: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Shows clear notice if a slot was just taken by someone else.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MODULE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Module 4: Patient Portal &amp; Appointment Booking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07040" y="365760"/>
            <a:ext cx="86868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6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MediFlow  •  Smart Healthcare Platform  •  8 Modular System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1600200"/>
            <a:ext cx="3017520" cy="38404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D97706"/>
                </a:solidFill>
                <a:latin typeface="Arial"/>
              </a:defRPr>
            </a:pPr>
            <a:r>
              <a:t>EASY APPOINTMENT BOOKING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30175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Department Search: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Patients filter doctors by department (Cardiology, Neurology, etc.).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Doctor Selection: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Select preferred doctor and view their available calendar dates.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Slot Picker: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Pick available time slot and add optional reason for visit.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Instant Confirmation: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Immediate booking confirmation with clear visit details.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81144" y="1600200"/>
            <a:ext cx="3017520" cy="38404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0D9488"/>
                </a:solidFill>
                <a:latin typeface="Arial"/>
              </a:defRPr>
            </a:pPr>
            <a:r>
              <a:t>APPOINTMENT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2148840"/>
            <a:ext cx="30175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Upcoming Visits List: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Displays upcoming appointments with date, time, and doctor name.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One-Click Cancel: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Patients can cancel an appointment if they cannot attend.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Past Visit History: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Complete history of previous finished and cancelled visits.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High-Contrast UI: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Clean input text and high visibility in both light and dark mode.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47888" y="1600200"/>
            <a:ext cx="3017520" cy="384048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E11D48"/>
                </a:solidFill>
                <a:latin typeface="Arial"/>
              </a:defRPr>
            </a:pPr>
            <a:r>
              <a:t>PATIENT 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148840"/>
            <a:ext cx="30175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Personal Details: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View and update full name, email, phone number, and address.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Emergency Contact: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Save emergency contact person name and phone number.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Medical Overview: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View recorded blood group, allergies, and vital summary.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Privacy Control: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Patient data is private and visible only to authorized doctors.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MODULE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Module 5: Doctor Clinical Workstation &amp; EMR Prescriptions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07040" y="365760"/>
            <a:ext cx="86868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7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MediFlow  •  Smart Healthcare Platform  •  8 Modular System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1600200"/>
            <a:ext cx="3017520" cy="38404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059669"/>
                </a:solidFill>
                <a:latin typeface="Arial"/>
              </a:defRPr>
            </a:pPr>
            <a:r>
              <a:t>PATIENT QUEUE COCKPIT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30175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Today's Patient Queue: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View all patient visits scheduled for today in order.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Visit Status Flow: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Update visit status: Scheduled → In-Progress → Completed.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Quick Patient Info: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View patient age, gender, and main reason for visit.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Fast Queue Search: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Search patients quickly by name or appointment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81144" y="1600200"/>
            <a:ext cx="3017520" cy="38404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0284C7"/>
                </a:solidFill>
                <a:latin typeface="Arial"/>
              </a:defRPr>
            </a:pPr>
            <a:r>
              <a:t>PATIENT VITALS TRACKER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2148840"/>
            <a:ext cx="30175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Core Vitals Entry: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Record blood pressure, heart rate, temperature, and blood sugar.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Longitudinal Graphs: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Simple visual charts showing vitals changes over past visits.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Abnormal Vitals Warning: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Color alerts if vitals are high or abnormal (e.g. BP &gt; 140/90).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Direct Data Flow: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Vitals link directly to the AI risk engine for analysis.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47888" y="1600200"/>
            <a:ext cx="301752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DIGITAL PRESCRIPTION (RX)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148840"/>
            <a:ext cx="30175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Medicine Generator: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Add medicine name, dosage, frequency, and number of days.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Diet &amp; Care Notes: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Add special instructions (e.g. 'Take after meals').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Instant Patient Share: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Prescription instantly appears on patient's account portal.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Digital Record Storage: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Saves medication history permanently to avoid prescription errors.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MODULE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Module 6: Explainable AI (XAI) &amp; Clinical Risk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07040" y="365760"/>
            <a:ext cx="86868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8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MediFlow  •  Smart Healthcare Platform  •  8 Modular System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1600200"/>
            <a:ext cx="3017520" cy="384048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E11D48"/>
                </a:solidFill>
                <a:latin typeface="Arial"/>
              </a:defRPr>
            </a:pPr>
            <a:r>
              <a:t>AI RISK PREDICTION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30175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Machine Learning Model: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Trained ML model analyzes patient health indicators.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Clinical Inputs: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Uses age, blood pressure, cholesterol, blood sugar, and ECG.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Risk Score Output: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Generates risk percentage and maps to LOW, MODERATE, or HIGH risk.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Early Warning: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Helps catch potential heart and chronic health risks early.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81144" y="1600200"/>
            <a:ext cx="3017520" cy="38404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0D9488"/>
                </a:solidFill>
                <a:latin typeface="Arial"/>
              </a:defRPr>
            </a:pPr>
            <a:r>
              <a:t>SHAP EXPLANATION CHARTS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2148840"/>
            <a:ext cx="30175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Clear Factor Breakdown: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Shows exactly which factors increased or decreased health risk.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No 'Black Box' Secret: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Explains AI reasoning clearly so doctors can trust the output.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Visual Bar Graphs: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Easy-to-read charts showing factor impact (e.g. BP +25%, Age +10%).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What-If Simulator: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Doctor can test how lowering BP or sugar reduces patient risk.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47888" y="1600200"/>
            <a:ext cx="3017520" cy="38404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D97706"/>
                </a:solidFill>
                <a:latin typeface="Arial"/>
              </a:defRPr>
            </a:pPr>
            <a:r>
              <a:t>DOCTOR SAFETY 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148840"/>
            <a:ext cx="30175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Doctor Always Decides: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AI gives advice ONLY — doctor makes final medical decision.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Safety Disclaimer: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Displays clear notice that AI is an assistant, not a doctor.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Doctor Note Required: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Doctor can accept or override AI advice with custom clinical notes.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AI Inference Logs: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Logs AI prediction history for audit and clinical safety checks.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MODULE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Module 7: Hospital Administration &amp; Department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07040" y="365760"/>
            <a:ext cx="86868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9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MediFlow  •  Smart Healthcare Platform  •  8 Modular System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1600200"/>
            <a:ext cx="3017520" cy="38404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059669"/>
                </a:solidFill>
                <a:latin typeface="Arial"/>
              </a:defRPr>
            </a:pPr>
            <a:r>
              <a:t>DOCTOR APPROVAL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30175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Doctor Request Queue: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Admin reviews new doctor registration requests.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Department Assignment: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Verifies doctor medical license and sets department.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One-Click Approval: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Admin approves or rejects doctor account with notification.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Staff Roster Control: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Admin can activate, deactivate, or edit staff accounts.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81144" y="1600200"/>
            <a:ext cx="3017520" cy="38404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0284C7"/>
                </a:solidFill>
                <a:latin typeface="Arial"/>
              </a:defRPr>
            </a:pPr>
            <a:r>
              <a:t>DEPARTMENT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2148840"/>
            <a:ext cx="30175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Department Hierarchy: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Organizes Cardiology, Neurology, Pediatrics, Orthopedics, etc.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Doctor Roster View: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Lists active doctors assigned to each clinical department.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Schedule Overview: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Monitors active consultation shifts across all departments.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Resource Balance: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Helps reassign doctors to busy departments when needed.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47888" y="1600200"/>
            <a:ext cx="301752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OPERATIONAL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148840"/>
            <a:ext cx="30175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Daily Patient Footfall: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Tracks total patients visiting hospital per day and week.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Department Load Chart: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Visual charts showing appointment distribution per specialty.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Wait Time Analytics: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Measures average patient wait time from arrival to doctor visit.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Exportable Reports: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Download administrative and patient volume reports.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MODULE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Module 8: Security Governance, Data Privacy &amp; Audit Logging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07040" y="365760"/>
            <a:ext cx="86868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10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MediFlow  •  Smart Healthcare Platform  •  8 Modular System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1600200"/>
            <a:ext cx="3017520" cy="384048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E11D48"/>
                </a:solidFill>
                <a:latin typeface="Arial"/>
              </a:defRPr>
            </a:pPr>
            <a:r>
              <a:t>PATIENT DATA PROTECTION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30175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PHI Isolation: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Patient health records and vitals are kept isolated and secure.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Data Encryption: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Strong encryption used for stored data and network transmission.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No Password Leaks: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Password hashes and secret keys are never sent in API responses.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Role-Scoped Visibility: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Patients only see their own data; doctors see assigned patients.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81144" y="1600200"/>
            <a:ext cx="3017520" cy="38404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D97706"/>
                </a:solidFill>
                <a:latin typeface="Arial"/>
              </a:defRPr>
            </a:pPr>
            <a:r>
              <a:t>IMMUTABLE AUDIT LOGS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2148840"/>
            <a:ext cx="30175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Complete Event Logs: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Logs every record view, appointment edit, and prescription.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Detailed Log Info: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Records Who (User ID), What (Action), When (Time), and IP Address.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No Deletion Allowed: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Audit log entries cannot be modified or deleted by anyone.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Traceability: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Admin can track exact history of any data access event.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47888" y="1600200"/>
            <a:ext cx="3017520" cy="38404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0D9488"/>
                </a:solidFill>
                <a:latin typeface="Arial"/>
              </a:defRPr>
            </a:pPr>
            <a:r>
              <a:t>HIPAA REGULATORY READINESS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148840"/>
            <a:ext cx="30175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Technical Safeguards: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Meets standard healthcare privacy and access rules.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Auto Session Timeout: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Logs out idle users automatically to protect screen data.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Compliance Reports: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Generates security audit summary for administrative review.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System Reliability: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Ensures high system security and zero data loss.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End-to-End System Architecture &amp; 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07040" y="365760"/>
            <a:ext cx="86868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11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MediFlow  •  Smart Healthcare Platform  •  8 Modular System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481328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0F766E"/>
                </a:solidFill>
                <a:latin typeface="Consolas"/>
              </a:defRPr>
            </a:pPr>
            <a:r>
              <a:t>FRONTEND (React.js SPA)   ⇄ [RESTful API / JSON] ⇄   BACKEND (Django REST / FastAPI)</a:t>
            </a:r>
            <a:br/>
            <a:r>
              <a:t>                                                            ↳ [SQLAlchemy / ORM] ⇄ POSTGRESQL DB (ACID)</a:t>
            </a:r>
            <a:br/>
            <a:r>
              <a:t>                                                            ↳ [Scikit-Learn ML Engine] ⇄ SHAP EXPLAINER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31720"/>
            <a:ext cx="2468880" cy="37490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68680" y="2496312"/>
            <a:ext cx="2194560" cy="3657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0D9488"/>
                </a:solidFill>
                <a:latin typeface="Arial"/>
              </a:defRPr>
            </a:pPr>
            <a:r>
              <a:t>FRONTEND 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53512"/>
            <a:ext cx="219456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• React.js &amp; Vite:</a:t>
            </a:r>
          </a:p>
          <a:p>
            <a:pPr>
              <a:spcAft>
                <a:spcPts val="700"/>
              </a:spcAft>
              <a:defRPr sz="880">
                <a:solidFill>
                  <a:srgbClr val="475569"/>
                </a:solidFill>
                <a:latin typeface="Arial"/>
              </a:defRPr>
            </a:pPr>
            <a:r>
              <a:t>  Fast user interface with smooth page navigation.</a:t>
            </a:r>
          </a:p>
          <a:p>
            <a:pPr>
              <a:spcAft>
                <a:spcPts val="10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• Vanilla CSS System:</a:t>
            </a:r>
          </a:p>
          <a:p>
            <a:pPr>
              <a:spcAft>
                <a:spcPts val="700"/>
              </a:spcAft>
              <a:defRPr sz="880">
                <a:solidFill>
                  <a:srgbClr val="475569"/>
                </a:solidFill>
                <a:latin typeface="Arial"/>
              </a:defRPr>
            </a:pPr>
            <a:r>
              <a:t>  Clean dual dark/light theme with glassmorphism design.</a:t>
            </a:r>
          </a:p>
          <a:p>
            <a:pPr>
              <a:spcAft>
                <a:spcPts val="10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• State Context:</a:t>
            </a:r>
          </a:p>
          <a:p>
            <a:pPr>
              <a:spcAft>
                <a:spcPts val="700"/>
              </a:spcAft>
              <a:defRPr sz="880">
                <a:solidFill>
                  <a:srgbClr val="475569"/>
                </a:solidFill>
                <a:latin typeface="Arial"/>
              </a:defRPr>
            </a:pPr>
            <a:r>
              <a:t>  Global Auth, Theme, and Notification state management.</a:t>
            </a:r>
          </a:p>
          <a:p>
            <a:pPr>
              <a:spcAft>
                <a:spcPts val="10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• Lucide Icons:</a:t>
            </a:r>
          </a:p>
          <a:p>
            <a:pPr>
              <a:spcAft>
                <a:spcPts val="700"/>
              </a:spcAft>
              <a:defRPr sz="880">
                <a:solidFill>
                  <a:srgbClr val="475569"/>
                </a:solidFill>
                <a:latin typeface="Arial"/>
              </a:defRPr>
            </a:pPr>
            <a:r>
              <a:t>  Modern clinical iconography for buttons and cards.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3864" y="2331720"/>
            <a:ext cx="2468880" cy="37490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21024" y="2496312"/>
            <a:ext cx="2194560" cy="3657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0284C7"/>
                </a:solidFill>
                <a:latin typeface="Arial"/>
              </a:defRPr>
            </a:pPr>
            <a:r>
              <a:t>BACKEND 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2953512"/>
            <a:ext cx="219456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• Django REST / FastAPI:</a:t>
            </a:r>
          </a:p>
          <a:p>
            <a:pPr>
              <a:spcAft>
                <a:spcPts val="700"/>
              </a:spcAft>
              <a:defRPr sz="880">
                <a:solidFill>
                  <a:srgbClr val="475569"/>
                </a:solidFill>
                <a:latin typeface="Arial"/>
              </a:defRPr>
            </a:pPr>
            <a:r>
              <a:t>  High-performance Python backend API server.</a:t>
            </a:r>
          </a:p>
          <a:p>
            <a:pPr>
              <a:spcAft>
                <a:spcPts val="10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• JWT Token Auth:</a:t>
            </a:r>
          </a:p>
          <a:p>
            <a:pPr>
              <a:spcAft>
                <a:spcPts val="700"/>
              </a:spcAft>
              <a:defRPr sz="880">
                <a:solidFill>
                  <a:srgbClr val="475569"/>
                </a:solidFill>
                <a:latin typeface="Arial"/>
              </a:defRPr>
            </a:pPr>
            <a:r>
              <a:t>  Secure token generation, verification, and rotation.</a:t>
            </a:r>
          </a:p>
          <a:p>
            <a:pPr>
              <a:spcAft>
                <a:spcPts val="10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• OTP Email Service:</a:t>
            </a:r>
          </a:p>
          <a:p>
            <a:pPr>
              <a:spcAft>
                <a:spcPts val="700"/>
              </a:spcAft>
              <a:defRPr sz="880">
                <a:solidFill>
                  <a:srgbClr val="475569"/>
                </a:solidFill>
                <a:latin typeface="Arial"/>
              </a:defRPr>
            </a:pPr>
            <a:r>
              <a:t>  Generates 6-digit email OTP codes for validation.</a:t>
            </a:r>
          </a:p>
          <a:p>
            <a:pPr>
              <a:spcAft>
                <a:spcPts val="10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• Modular API Routes:</a:t>
            </a:r>
          </a:p>
          <a:p>
            <a:pPr>
              <a:spcAft>
                <a:spcPts val="700"/>
              </a:spcAft>
              <a:defRPr sz="880">
                <a:solidFill>
                  <a:srgbClr val="475569"/>
                </a:solidFill>
                <a:latin typeface="Arial"/>
              </a:defRPr>
            </a:pPr>
            <a:r>
              <a:t>  Separate routes for Auth, Appointments, EMR, and Admin.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2331720"/>
            <a:ext cx="2468880" cy="37490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73368" y="2496312"/>
            <a:ext cx="219456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0F172A"/>
                </a:solidFill>
                <a:latin typeface="Arial"/>
              </a:defRPr>
            </a:pPr>
            <a:r>
              <a:t>DATABASE 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953512"/>
            <a:ext cx="219456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• PostgreSQL Database:</a:t>
            </a:r>
          </a:p>
          <a:p>
            <a:pPr>
              <a:spcAft>
                <a:spcPts val="700"/>
              </a:spcAft>
              <a:defRPr sz="880">
                <a:solidFill>
                  <a:srgbClr val="475569"/>
                </a:solidFill>
                <a:latin typeface="Arial"/>
              </a:defRPr>
            </a:pPr>
            <a:r>
              <a:t>  Reliable database storing users, appointments, and EMR.</a:t>
            </a:r>
          </a:p>
          <a:p>
            <a:pPr>
              <a:spcAft>
                <a:spcPts val="10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• ACID Transactions:</a:t>
            </a:r>
          </a:p>
          <a:p>
            <a:pPr>
              <a:spcAft>
                <a:spcPts val="700"/>
              </a:spcAft>
              <a:defRPr sz="880">
                <a:solidFill>
                  <a:srgbClr val="475569"/>
                </a:solidFill>
                <a:latin typeface="Arial"/>
              </a:defRPr>
            </a:pPr>
            <a:r>
              <a:t>  Guarantees zero double-booking and zero data loss.</a:t>
            </a:r>
          </a:p>
          <a:p>
            <a:pPr>
              <a:spcAft>
                <a:spcPts val="10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• Django ORM:</a:t>
            </a:r>
          </a:p>
          <a:p>
            <a:pPr>
              <a:spcAft>
                <a:spcPts val="700"/>
              </a:spcAft>
              <a:defRPr sz="880">
                <a:solidFill>
                  <a:srgbClr val="475569"/>
                </a:solidFill>
                <a:latin typeface="Arial"/>
              </a:defRPr>
            </a:pPr>
            <a:r>
              <a:t>  Type-safe database models and structured queries.</a:t>
            </a:r>
          </a:p>
          <a:p>
            <a:pPr>
              <a:spcAft>
                <a:spcPts val="10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• Auto Migrations:</a:t>
            </a:r>
          </a:p>
          <a:p>
            <a:pPr>
              <a:spcAft>
                <a:spcPts val="700"/>
              </a:spcAft>
              <a:defRPr sz="880">
                <a:solidFill>
                  <a:srgbClr val="475569"/>
                </a:solidFill>
                <a:latin typeface="Arial"/>
              </a:defRPr>
            </a:pPr>
            <a:r>
              <a:t>  Easy database schema updates and version control.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88552" y="2331720"/>
            <a:ext cx="2468880" cy="37490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125712" y="2496312"/>
            <a:ext cx="2194560" cy="3657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D97706"/>
                </a:solidFill>
                <a:latin typeface="Arial"/>
              </a:defRPr>
            </a:pPr>
            <a:r>
              <a:t>AI DECISION TIER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2953512"/>
            <a:ext cx="219456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• Scikit-Learn Models:</a:t>
            </a:r>
          </a:p>
          <a:p>
            <a:pPr>
              <a:spcAft>
                <a:spcPts val="700"/>
              </a:spcAft>
              <a:defRPr sz="880">
                <a:solidFill>
                  <a:srgbClr val="475569"/>
                </a:solidFill>
                <a:latin typeface="Arial"/>
              </a:defRPr>
            </a:pPr>
            <a:r>
              <a:t>  Cardiovascular risk triage machine learning model.</a:t>
            </a:r>
          </a:p>
          <a:p>
            <a:pPr>
              <a:spcAft>
                <a:spcPts val="10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• SHAP Explainability:</a:t>
            </a:r>
          </a:p>
          <a:p>
            <a:pPr>
              <a:spcAft>
                <a:spcPts val="700"/>
              </a:spcAft>
              <a:defRPr sz="880">
                <a:solidFill>
                  <a:srgbClr val="475569"/>
                </a:solidFill>
                <a:latin typeface="Arial"/>
              </a:defRPr>
            </a:pPr>
            <a:r>
              <a:t>  Calculates feature impact for clear risk explanation.</a:t>
            </a:r>
          </a:p>
          <a:p>
            <a:pPr>
              <a:spcAft>
                <a:spcPts val="10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• Biometric Analysis:</a:t>
            </a:r>
          </a:p>
          <a:p>
            <a:pPr>
              <a:spcAft>
                <a:spcPts val="700"/>
              </a:spcAft>
              <a:defRPr sz="880">
                <a:solidFill>
                  <a:srgbClr val="475569"/>
                </a:solidFill>
                <a:latin typeface="Arial"/>
              </a:defRPr>
            </a:pPr>
            <a:r>
              <a:t>  Evaluates blood pressure, sugar, age, and ECG.</a:t>
            </a:r>
          </a:p>
          <a:p>
            <a:pPr>
              <a:spcAft>
                <a:spcPts val="10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• What-If Engine:</a:t>
            </a:r>
          </a:p>
          <a:p>
            <a:pPr>
              <a:spcAft>
                <a:spcPts val="700"/>
              </a:spcAft>
              <a:defRPr sz="880">
                <a:solidFill>
                  <a:srgbClr val="475569"/>
                </a:solidFill>
                <a:latin typeface="Arial"/>
              </a:defRPr>
            </a:pPr>
            <a:r>
              <a:t>  Calculates risk change when patient vitals improve.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SYSTEM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End-to-End 8-Module Patient Care Journey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07040" y="365760"/>
            <a:ext cx="86868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12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MediFlow  •  Smart Healthcare Platform  •  8 Modular System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24688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" y="1554480"/>
            <a:ext cx="2194560" cy="38404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0D9488"/>
                </a:solidFill>
                <a:latin typeface="Arial"/>
              </a:defRPr>
            </a:pPr>
            <a:r>
              <a:t>PHASE 1: SIGNUP &amp; SCHEDULE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219456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1. User Registration:</a:t>
            </a:r>
          </a:p>
          <a:p>
            <a:pPr>
              <a:spcAft>
                <a:spcPts val="1000"/>
              </a:spcAft>
              <a:defRPr sz="919">
                <a:solidFill>
                  <a:srgbClr val="475569"/>
                </a:solidFill>
                <a:latin typeface="Arial"/>
              </a:defRPr>
            </a:pPr>
            <a:r>
              <a:t>    Module 1 creates user account with password hashing and email OTP.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2. Admin Approval:</a:t>
            </a:r>
          </a:p>
          <a:p>
            <a:pPr>
              <a:spcAft>
                <a:spcPts val="1000"/>
              </a:spcAft>
              <a:defRPr sz="919">
                <a:solidFill>
                  <a:srgbClr val="475569"/>
                </a:solidFill>
                <a:latin typeface="Arial"/>
              </a:defRPr>
            </a:pPr>
            <a:r>
              <a:t>    Module 7 admin verifies doctor request and assigns department.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3. Doctor Shift Setup:</a:t>
            </a:r>
          </a:p>
          <a:p>
            <a:pPr>
              <a:spcAft>
                <a:spcPts val="1000"/>
              </a:spcAft>
              <a:defRPr sz="919">
                <a:solidFill>
                  <a:srgbClr val="475569"/>
                </a:solidFill>
                <a:latin typeface="Arial"/>
              </a:defRPr>
            </a:pPr>
            <a:r>
              <a:t>    Module 3 doctor creates weekly work days and time slot duration.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83864" y="1371600"/>
            <a:ext cx="24688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621024" y="1554480"/>
            <a:ext cx="2194560" cy="38404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0284C7"/>
                </a:solidFill>
                <a:latin typeface="Arial"/>
              </a:defRPr>
            </a:pPr>
            <a:r>
              <a:t>PHASE 2: BOOKING &amp; CHECK-IN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103120"/>
            <a:ext cx="219456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1. Department Search:</a:t>
            </a:r>
          </a:p>
          <a:p>
            <a:pPr>
              <a:spcAft>
                <a:spcPts val="1000"/>
              </a:spcAft>
              <a:defRPr sz="919">
                <a:solidFill>
                  <a:srgbClr val="475569"/>
                </a:solidFill>
                <a:latin typeface="Arial"/>
              </a:defRPr>
            </a:pPr>
            <a:r>
              <a:t>    Module 4 patient picks department, doctor, and date.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2. Slot Reservation:</a:t>
            </a:r>
          </a:p>
          <a:p>
            <a:pPr>
              <a:spcAft>
                <a:spcPts val="1000"/>
              </a:spcAft>
              <a:defRPr sz="919">
                <a:solidFill>
                  <a:srgbClr val="475569"/>
                </a:solidFill>
                <a:latin typeface="Arial"/>
              </a:defRPr>
            </a:pPr>
            <a:r>
              <a:t>    Module 3 locks selected time slot and confirms booking.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3. Queue Arrival:</a:t>
            </a:r>
          </a:p>
          <a:p>
            <a:pPr>
              <a:spcAft>
                <a:spcPts val="1000"/>
              </a:spcAft>
              <a:defRPr sz="919">
                <a:solidFill>
                  <a:srgbClr val="475569"/>
                </a:solidFill>
                <a:latin typeface="Arial"/>
              </a:defRPr>
            </a:pPr>
            <a:r>
              <a:t>    Doctor views patient arrival in Module 5 queue cockpit.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371600"/>
            <a:ext cx="24688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73368" y="1554480"/>
            <a:ext cx="2194560" cy="384048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7E22CE"/>
                </a:solidFill>
                <a:latin typeface="Arial"/>
              </a:defRPr>
            </a:pPr>
            <a:r>
              <a:t>PHASE 3: CLINICAL VISIT &amp;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103120"/>
            <a:ext cx="219456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1. Vitals Entry:</a:t>
            </a:r>
          </a:p>
          <a:p>
            <a:pPr>
              <a:spcAft>
                <a:spcPts val="1000"/>
              </a:spcAft>
              <a:defRPr sz="919">
                <a:solidFill>
                  <a:srgbClr val="475569"/>
                </a:solidFill>
                <a:latin typeface="Arial"/>
              </a:defRPr>
            </a:pPr>
            <a:r>
              <a:t>    Module 5 doctor records patient blood pressure, sugar, and heart rate.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2. AI Risk Analysis:</a:t>
            </a:r>
          </a:p>
          <a:p>
            <a:pPr>
              <a:spcAft>
                <a:spcPts val="1000"/>
              </a:spcAft>
              <a:defRPr sz="919">
                <a:solidFill>
                  <a:srgbClr val="475569"/>
                </a:solidFill>
                <a:latin typeface="Arial"/>
              </a:defRPr>
            </a:pPr>
            <a:r>
              <a:t>    Module 6 AI predicts risk score and displays SHAP factor chart.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3. Digital Prescription:</a:t>
            </a:r>
          </a:p>
          <a:p>
            <a:pPr>
              <a:spcAft>
                <a:spcPts val="1000"/>
              </a:spcAft>
              <a:defRPr sz="919">
                <a:solidFill>
                  <a:srgbClr val="475569"/>
                </a:solidFill>
                <a:latin typeface="Arial"/>
              </a:defRPr>
            </a:pPr>
            <a:r>
              <a:t>    Module 5 doctor creates digital prescription with dosage and notes.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88552" y="1371600"/>
            <a:ext cx="24688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125712" y="1554480"/>
            <a:ext cx="2194560" cy="38404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D97706"/>
                </a:solidFill>
                <a:latin typeface="Arial"/>
              </a:defRPr>
            </a:pPr>
            <a:r>
              <a:t>PHASE 4: AUDIT &amp; INSIGHTS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2" y="2103120"/>
            <a:ext cx="219456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1. Audit Trail Log:</a:t>
            </a:r>
          </a:p>
          <a:p>
            <a:pPr>
              <a:spcAft>
                <a:spcPts val="1000"/>
              </a:spcAft>
              <a:defRPr sz="919">
                <a:solidFill>
                  <a:srgbClr val="475569"/>
                </a:solidFill>
                <a:latin typeface="Arial"/>
              </a:defRPr>
            </a:pPr>
            <a:r>
              <a:t>    Module 8 logs all visit edits and prescription creations safely.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2. Patient Access:</a:t>
            </a:r>
          </a:p>
          <a:p>
            <a:pPr>
              <a:spcAft>
                <a:spcPts val="1000"/>
              </a:spcAft>
              <a:defRPr sz="919">
                <a:solidFill>
                  <a:srgbClr val="475569"/>
                </a:solidFill>
                <a:latin typeface="Arial"/>
              </a:defRPr>
            </a:pPr>
            <a:r>
              <a:t>    Module 4 patient views prescription and visit history on portal.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3. Hospital Analytics:</a:t>
            </a:r>
          </a:p>
          <a:p>
            <a:pPr>
              <a:spcAft>
                <a:spcPts val="1000"/>
              </a:spcAft>
              <a:defRPr sz="919">
                <a:solidFill>
                  <a:srgbClr val="475569"/>
                </a:solidFill>
                <a:latin typeface="Arial"/>
              </a:defRPr>
            </a:pPr>
            <a:r>
              <a:t>    Module 7 updates daily patient count and department throughput.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SYSTEM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Practical Benefits &amp; Real-World Healthcare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07040" y="365760"/>
            <a:ext cx="86868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13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MediFlow  •  Smart Healthcare Platform  •  8 Modular System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1600200"/>
            <a:ext cx="3017520" cy="38404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0D9488"/>
                </a:solidFill>
                <a:latin typeface="Arial"/>
              </a:defRPr>
            </a:pPr>
            <a:r>
              <a:t>FOR PATIENTS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30175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✓  Easy Online Booking: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Book appointments 24/7 without waiting in hospital phone lines.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✓  Zero Wait Uncertainty: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See exact appointment time slot and doctor availability.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✓  Digital Health History: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Access all prescriptions and visit history anytime on phone/PC.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✓  Clear Privacy Control: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Personal health data is protected and kept private.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81144" y="1600200"/>
            <a:ext cx="3017520" cy="38404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0284C7"/>
                </a:solidFill>
                <a:latin typeface="Arial"/>
              </a:defRPr>
            </a:pPr>
            <a:r>
              <a:t>FOR DOCTORS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2148840"/>
            <a:ext cx="30175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✓  Organized Queue: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Clear daily queue of patient visits with reason for visit.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✓  Flexible Scheduling: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Easy control over working days, shift hours, and slot lengths.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✓  Explainable AI Helper: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SHAP charts explain risk factors without replacing doctor judgment.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✓  Fast Digital Prescriptions: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Create structured prescriptions in seconds.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47888" y="1600200"/>
            <a:ext cx="3017520" cy="38404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D97706"/>
                </a:solidFill>
                <a:latin typeface="Arial"/>
              </a:defRPr>
            </a:pPr>
            <a:r>
              <a:t>FOR HOSPITALS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148840"/>
            <a:ext cx="30175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✓  No Double-Booking: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Database transactions guarantee zero conflicting appointments.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✓  Better Staff Allocation: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Department analytics show busy hours and staff load.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✓  Complete Audit Trail: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HIPAA-aligned event log tracks all user data access.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✓  Paperless Operations: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Reduces physical paperwork and reception desk congestion.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ROADMAP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Future Enhancements &amp; Project 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07040" y="365760"/>
            <a:ext cx="86868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14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MediFlow  •  Smart Healthcare Platform  •  8 Modular System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1600200"/>
            <a:ext cx="3017520" cy="38404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0284C7"/>
                </a:solidFill>
                <a:latin typeface="Arial"/>
              </a:defRPr>
            </a:pPr>
            <a:r>
              <a:t>FUTURE ENHANCEMENTS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30175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Telemedicine Video Calls: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Add live video consultation between doctor and patient.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Lab Report Uploads: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Allow patients to upload PDF lab results directly to profile.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SMS Appointment Alerts: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Send automated SMS reminders before appointment time.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Multi-Language Support: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Add local language support for patient portal UI.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81144" y="1600200"/>
            <a:ext cx="3017520" cy="38404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0D9488"/>
                </a:solidFill>
                <a:latin typeface="Arial"/>
              </a:defRPr>
            </a:pPr>
            <a:r>
              <a:t>PROJECT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2148840"/>
            <a:ext cx="30175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Clean 8-Module Design: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Organized separation of Auth, UI, Schedules, Care, AI &amp; Security.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Modern Tech Stack: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React.js frontend, Django/FastAPI backend, PostgreSQL database.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Explainable AI: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Clear SHAP risk charts built to assist, not replace, doctors.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Production Ready: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High performance, responsive design, and strict security rules.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47888" y="1600200"/>
            <a:ext cx="301752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THANK YOU &amp; Q&amp;A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148840"/>
            <a:ext cx="30175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Thank You: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Thank you for your time and interest in MediFlow.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Questions &amp; Answers: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We welcome any questions, suggestions, or feedback.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Live Demonstration: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System is active and ready for walkthrough.</a:t>
            </a:r>
          </a:p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 MediFlow Platform: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    Building smarter, safer, and simpler healthcare software.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3086</Words>
  <Application>Microsoft Office PowerPoint</Application>
  <PresentationFormat>Widescreen</PresentationFormat>
  <Paragraphs>421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bpavanraj701@gmail.com</cp:lastModifiedBy>
  <cp:revision>2</cp:revision>
  <dcterms:created xsi:type="dcterms:W3CDTF">2013-01-27T09:14:16Z</dcterms:created>
  <dcterms:modified xsi:type="dcterms:W3CDTF">2026-10-08T17:13:33Z</dcterms:modified>
  <cp:category/>
</cp:coreProperties>
</file>