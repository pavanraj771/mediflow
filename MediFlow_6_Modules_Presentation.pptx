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presenting MediFlow, an intelligent healthcare management and clinical decision support system. To ensure high maintainability, security, and scalability, this project is divided cleanly into 6 functional and technical modules. In this presentation, we will walk through each of these six modules, our underlying technology stack, clinical AI explainability, and enterprise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high-level division of the MediFlow platform into its 6 core modules. Module 1 handles Identity and Access Governance. Module 2 manages Doctor Scheduling and Appointment allocation. Module 3 covers Electronic Medical Records and Doctor Consultations. Module 4 delivers our Explainable AI Decision Support System. Module 5 provides Hospital Management Operations and Operational Analytics. And Module 6 enforces HIPAA-aligned Security, Data Privacy, and Audit Logging.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is our foundation for security and identity. It utilizes Bcrypt with 12 rounds for password hashing and issues stateless JWT tokens. A strict Role-Based Access Control matrix distinguishes Patients, Doctors, and Hospital Admins. Every API route is guarded by FastAPI dependencies, while React client routes are protected to prevent unauthorized URL access.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is our scheduling and appointment engine. It enables clinicians to configure shift hours and automatically generates 30-minute booking slots. By enforcing PostgreSQL transactional integrity, we completely eliminate double-booking conflicts. Patients can view open slots, filter by doctor specialty, and seamlessly book or reschedule appointments while doctors manage their queue through a state machine.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represents the core clinical workstation for healthcare providers. Here doctors conduct consultations, document diagnoses, and record patient vitals. The system plots longitudinal vital trends using Recharts and enables doctors to generate itemized digital prescriptions with clear dosages and schedules. All data is tied directly to the patient's health record, giving patients permanent access on their own portal.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sets MediFlow apart from traditional hospital management software. We integrate an Explainable AI Clinical Decision Support System. Instead of acting as a mysterious black box, our model uses SHAP values to attribute risk to specific biomarkers like elevated blood pressure or cholesterol. Doctors can run 'What-If' simulations to show patients how lifestyle interventions reduce risk. Strict ethical guardrails ensure that clinicians always retain ultimate decision authority.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empowers hospital administrators and chief medical officers with operational intelligence. Administrators can manage the hospital staff directory, assign departments, and configure physician rosters. Simultaneously, operational dashboards track patient throughput, department load balancing, and wait times, transforming raw operational data into actionable healthcare insights.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addresses the non-negotiable requirement of healthcare IT: Regulatory compliance and patient data privacy. In compliance with HIPAA technical safeguards, all Protected Health Information is encrypted and protected by strict scoping. Furthermore, MediFlow implements an immutable, append-only audit trail that permanently captures who accessed what record, from what IP address, and at what exact second, ensuring total forensic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our comprehensive multi-tier architecture. On the client side, React and Tailwind CSS provide a responsive interface. The application tier is powered by FastAPI, ensuring high-throughput asynchronous request handling. The persistence layer utilizes PostgreSQL for relational integrity and ACID compliance, while our Decision Support tier executes Scikit-learn and SHAP inference asynchronously.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how all 6 modules interact across an end-to-end patient journey. In Phase 1, Identity and Scheduling initialize the system. In Phase 2, the patient books a conflict-free slot. In Phase 3, the clinician enters vitals in EMR, invokes the Explainable AI Decision Support System, and prescribes medication. In Phase 4, the audit log records the activity while the hospital dashboard updates operational metrics.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of MediFlow is measurable across three key dimensions: Operational Efficiency, Clinical Quality, and Enterprise Governance. Operationally, we achieve up to a 60% reduction in administrative paperwork and 100% elimination of double-booking. Clinically, doctors gain explainable AI risk assessments that empower preventative patient care while respecting clinical judgment. And technically, our sub-250ms API response latency and complete audit trail ensure regulatory readiness.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MediFlow delivers a comprehensive, modern healthcare ecosystem divided into 6 cohesive modules. It eliminates administrative chaos, guarantees slot consistency, empowers doctors with explainable clinical AI, and safeguards patient data. Our roadmap points toward deep learning image analysis and FHIR interoperability. Thank you very much, and I look forward to any questions or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51560"/>
            <a:ext cx="10728655" cy="502920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80160" y="1463040"/>
            <a:ext cx="3840480" cy="3657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F766E"/>
                </a:solidFill>
                <a:latin typeface="Arial"/>
              </a:defRPr>
            </a:pPr>
            <a:r>
              <a:t>ENTERPRISE HEALTHCARE SAAS &amp; CLINICAL AI</a:t>
            </a:r>
          </a:p>
        </p:txBody>
      </p:sp>
      <p:sp>
        <p:nvSpPr>
          <p:cNvPr id="6" name="TextBox 5"/>
          <p:cNvSpPr txBox="1"/>
          <p:nvPr/>
        </p:nvSpPr>
        <p:spPr>
          <a:xfrm>
            <a:off x="1280160" y="2011680"/>
            <a:ext cx="9601200" cy="1005840"/>
          </a:xfrm>
          <a:prstGeom prst="rect">
            <a:avLst/>
          </a:prstGeom>
          <a:noFill/>
        </p:spPr>
        <p:txBody>
          <a:bodyPr wrap="square">
            <a:spAutoFit/>
          </a:bodyPr>
          <a:lstStyle/>
          <a:p>
            <a:pPr>
              <a:defRPr sz="4400" b="1">
                <a:solidFill>
                  <a:srgbClr val="0F172A"/>
                </a:solidFill>
                <a:latin typeface="Arial"/>
              </a:defRPr>
            </a:pPr>
            <a:r>
              <a:t>MediFlow</a:t>
            </a:r>
          </a:p>
        </p:txBody>
      </p:sp>
      <p:sp>
        <p:nvSpPr>
          <p:cNvPr id="7" name="TextBox 6"/>
          <p:cNvSpPr txBox="1"/>
          <p:nvPr/>
        </p:nvSpPr>
        <p:spPr>
          <a:xfrm>
            <a:off x="1280160" y="3017520"/>
            <a:ext cx="9601200" cy="502920"/>
          </a:xfrm>
          <a:prstGeom prst="rect">
            <a:avLst/>
          </a:prstGeom>
          <a:noFill/>
        </p:spPr>
        <p:txBody>
          <a:bodyPr wrap="square">
            <a:spAutoFit/>
          </a:bodyPr>
          <a:lstStyle/>
          <a:p>
            <a:pPr>
              <a:defRPr sz="2000" b="1">
                <a:solidFill>
                  <a:srgbClr val="0D9488"/>
                </a:solidFill>
                <a:latin typeface="Arial"/>
              </a:defRPr>
            </a:pPr>
            <a:r>
              <a:t>Intelligent Healthcare Management &amp; Clinical Decision Support System</a:t>
            </a:r>
          </a:p>
        </p:txBody>
      </p:sp>
      <p:sp>
        <p:nvSpPr>
          <p:cNvPr id="8" name="TextBox 7"/>
          <p:cNvSpPr txBox="1"/>
          <p:nvPr/>
        </p:nvSpPr>
        <p:spPr>
          <a:xfrm>
            <a:off x="1280160" y="3611880"/>
            <a:ext cx="9601200" cy="457200"/>
          </a:xfrm>
          <a:prstGeom prst="rect">
            <a:avLst/>
          </a:prstGeom>
          <a:noFill/>
        </p:spPr>
        <p:txBody>
          <a:bodyPr wrap="square">
            <a:spAutoFit/>
          </a:bodyPr>
          <a:lstStyle/>
          <a:p>
            <a:pPr>
              <a:defRPr sz="1300">
                <a:solidFill>
                  <a:srgbClr val="475569"/>
                </a:solidFill>
                <a:latin typeface="Arial"/>
              </a:defRPr>
            </a:pPr>
            <a:r>
              <a:t>A Complete 6-Module Full-Stack Architectural Division with Explainable AI &amp; Regulatory Compliance</a:t>
            </a:r>
          </a:p>
        </p:txBody>
      </p:sp>
      <p:sp>
        <p:nvSpPr>
          <p:cNvPr id="9" name="Rounded Rectangle 8"/>
          <p:cNvSpPr/>
          <p:nvPr/>
        </p:nvSpPr>
        <p:spPr>
          <a:xfrm>
            <a:off x="1280160" y="4297680"/>
            <a:ext cx="2331720" cy="12801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950" b="1">
                <a:solidFill>
                  <a:srgbClr val="0D9488"/>
                </a:solidFill>
                <a:latin typeface="Arial"/>
              </a:defRPr>
            </a:pPr>
            <a:r>
              <a:t>ARCHITECTURE</a:t>
            </a:r>
          </a:p>
          <a:p>
            <a:pPr>
              <a:defRPr sz="1000" b="1">
                <a:solidFill>
                  <a:srgbClr val="0F172A"/>
                </a:solidFill>
                <a:latin typeface="Arial"/>
              </a:defRPr>
            </a:pPr>
            <a:r>
              <a:t>6 Decoupled Modules</a:t>
            </a:r>
            <a:br/>
            <a:r>
              <a:t>Microservices-Ready</a:t>
            </a:r>
          </a:p>
        </p:txBody>
      </p:sp>
      <p:sp>
        <p:nvSpPr>
          <p:cNvPr id="10" name="Rounded Rectangle 9"/>
          <p:cNvSpPr/>
          <p:nvPr/>
        </p:nvSpPr>
        <p:spPr>
          <a:xfrm>
            <a:off x="3840480" y="4297680"/>
            <a:ext cx="2331720" cy="12801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950" b="1">
                <a:solidFill>
                  <a:srgbClr val="0284C7"/>
                </a:solidFill>
                <a:latin typeface="Arial"/>
              </a:defRPr>
            </a:pPr>
            <a:r>
              <a:t>TECH STACK</a:t>
            </a:r>
          </a:p>
          <a:p>
            <a:pPr>
              <a:defRPr sz="1000" b="1">
                <a:solidFill>
                  <a:srgbClr val="0F172A"/>
                </a:solidFill>
                <a:latin typeface="Arial"/>
              </a:defRPr>
            </a:pPr>
            <a:r>
              <a:t>React.js • FastAPI</a:t>
            </a:r>
            <a:br/>
            <a:r>
              <a:t>PostgreSQL • Scikit-learn</a:t>
            </a:r>
          </a:p>
        </p:txBody>
      </p:sp>
      <p:sp>
        <p:nvSpPr>
          <p:cNvPr id="11" name="Rounded Rectangle 10"/>
          <p:cNvSpPr/>
          <p:nvPr/>
        </p:nvSpPr>
        <p:spPr>
          <a:xfrm>
            <a:off x="6400800" y="4297680"/>
            <a:ext cx="2331720" cy="12801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950" b="1">
                <a:solidFill>
                  <a:srgbClr val="7E22CE"/>
                </a:solidFill>
                <a:latin typeface="Arial"/>
              </a:defRPr>
            </a:pPr>
            <a:r>
              <a:t>CLINICAL AI</a:t>
            </a:r>
          </a:p>
          <a:p>
            <a:pPr>
              <a:defRPr sz="1000" b="1">
                <a:solidFill>
                  <a:srgbClr val="0F172A"/>
                </a:solidFill>
                <a:latin typeface="Arial"/>
              </a:defRPr>
            </a:pPr>
            <a:r>
              <a:t>Explainable CDSS</a:t>
            </a:r>
            <a:br/>
            <a:r>
              <a:t>SHAP Attribution Engine</a:t>
            </a:r>
          </a:p>
        </p:txBody>
      </p:sp>
      <p:sp>
        <p:nvSpPr>
          <p:cNvPr id="12" name="Rounded Rectangle 11"/>
          <p:cNvSpPr/>
          <p:nvPr/>
        </p:nvSpPr>
        <p:spPr>
          <a:xfrm>
            <a:off x="8961120" y="4297680"/>
            <a:ext cx="2331720" cy="12801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950" b="1">
                <a:solidFill>
                  <a:srgbClr val="D97706"/>
                </a:solidFill>
                <a:latin typeface="Arial"/>
              </a:defRPr>
            </a:pPr>
            <a:r>
              <a:t>GOVERNANCE</a:t>
            </a:r>
          </a:p>
          <a:p>
            <a:pPr>
              <a:defRPr sz="1000" b="1">
                <a:solidFill>
                  <a:srgbClr val="0F172A"/>
                </a:solidFill>
                <a:latin typeface="Arial"/>
              </a:defRPr>
            </a:pPr>
            <a:r>
              <a:t>HIPAA-Aligned Privacy</a:t>
            </a:r>
            <a:br/>
            <a:r>
              <a:t>Immutable Audit Trails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PROJECT MODULARIZATION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Executive Summary: Complete 6-Module Architectural Division</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2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3364992" cy="228600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554480"/>
            <a:ext cx="1188720" cy="32004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0D9488"/>
                </a:solidFill>
                <a:latin typeface="Arial"/>
              </a:defRPr>
            </a:pPr>
            <a:r>
              <a:t>MODULE 1</a:t>
            </a:r>
          </a:p>
        </p:txBody>
      </p:sp>
      <p:sp>
        <p:nvSpPr>
          <p:cNvPr id="10" name="TextBox 9"/>
          <p:cNvSpPr txBox="1"/>
          <p:nvPr/>
        </p:nvSpPr>
        <p:spPr>
          <a:xfrm>
            <a:off x="914400" y="1993392"/>
            <a:ext cx="2999232" cy="1554480"/>
          </a:xfrm>
          <a:prstGeom prst="rect">
            <a:avLst/>
          </a:prstGeom>
          <a:noFill/>
        </p:spPr>
        <p:txBody>
          <a:bodyPr wrap="square" lIns="0" tIns="0" rIns="0" bIns="0">
            <a:spAutoFit/>
          </a:bodyPr>
          <a:lstStyle/>
          <a:p>
            <a:pPr>
              <a:spcAft>
                <a:spcPts val="400"/>
              </a:spcAft>
              <a:defRPr sz="1200" b="1">
                <a:solidFill>
                  <a:srgbClr val="0F172A"/>
                </a:solidFill>
                <a:latin typeface="Arial"/>
              </a:defRPr>
            </a:pPr>
            <a:r>
              <a:t>Identity, Authentication &amp; RBAC</a:t>
            </a:r>
          </a:p>
          <a:p>
            <a:pPr>
              <a:defRPr sz="1000">
                <a:solidFill>
                  <a:srgbClr val="475569"/>
                </a:solidFill>
                <a:latin typeface="Arial"/>
              </a:defRPr>
            </a:pPr>
            <a:r>
              <a:t>Bcrypt hashing, stateless JWT authorization, multi-role security (Patient, Doctor, Admin).</a:t>
            </a:r>
          </a:p>
        </p:txBody>
      </p:sp>
      <p:sp>
        <p:nvSpPr>
          <p:cNvPr id="11" name="Rounded Rectangle 10"/>
          <p:cNvSpPr/>
          <p:nvPr/>
        </p:nvSpPr>
        <p:spPr>
          <a:xfrm>
            <a:off x="4407408" y="1371600"/>
            <a:ext cx="3364992" cy="228600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90288" y="1554480"/>
            <a:ext cx="1188720" cy="32004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0284C7"/>
                </a:solidFill>
                <a:latin typeface="Arial"/>
              </a:defRPr>
            </a:pPr>
            <a:r>
              <a:t>MODULE 2</a:t>
            </a:r>
          </a:p>
        </p:txBody>
      </p:sp>
      <p:sp>
        <p:nvSpPr>
          <p:cNvPr id="13" name="TextBox 12"/>
          <p:cNvSpPr txBox="1"/>
          <p:nvPr/>
        </p:nvSpPr>
        <p:spPr>
          <a:xfrm>
            <a:off x="4590288" y="1993392"/>
            <a:ext cx="2999232" cy="1554480"/>
          </a:xfrm>
          <a:prstGeom prst="rect">
            <a:avLst/>
          </a:prstGeom>
          <a:noFill/>
        </p:spPr>
        <p:txBody>
          <a:bodyPr wrap="square" lIns="0" tIns="0" rIns="0" bIns="0">
            <a:spAutoFit/>
          </a:bodyPr>
          <a:lstStyle/>
          <a:p>
            <a:pPr>
              <a:spcAft>
                <a:spcPts val="400"/>
              </a:spcAft>
              <a:defRPr sz="1200" b="1">
                <a:solidFill>
                  <a:srgbClr val="0F172A"/>
                </a:solidFill>
                <a:latin typeface="Arial"/>
              </a:defRPr>
            </a:pPr>
            <a:r>
              <a:t>Doctor Scheduling &amp; Appointments</a:t>
            </a:r>
          </a:p>
          <a:p>
            <a:pPr>
              <a:defRPr sz="1000">
                <a:solidFill>
                  <a:srgbClr val="475569"/>
                </a:solidFill>
                <a:latin typeface="Arial"/>
              </a:defRPr>
            </a:pPr>
            <a:r>
              <a:t>Dynamic slot generator, ACID conflict detection, patient self-service booking &amp; cancellation.</a:t>
            </a:r>
          </a:p>
        </p:txBody>
      </p:sp>
      <p:sp>
        <p:nvSpPr>
          <p:cNvPr id="14" name="Rounded Rectangle 13"/>
          <p:cNvSpPr/>
          <p:nvPr/>
        </p:nvSpPr>
        <p:spPr>
          <a:xfrm>
            <a:off x="8083296" y="1371600"/>
            <a:ext cx="3364992" cy="2286000"/>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66176" y="1554480"/>
            <a:ext cx="1188720" cy="32004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7E22CE"/>
                </a:solidFill>
                <a:latin typeface="Arial"/>
              </a:defRPr>
            </a:pPr>
            <a:r>
              <a:t>MODULE 3</a:t>
            </a:r>
          </a:p>
        </p:txBody>
      </p:sp>
      <p:sp>
        <p:nvSpPr>
          <p:cNvPr id="16" name="TextBox 15"/>
          <p:cNvSpPr txBox="1"/>
          <p:nvPr/>
        </p:nvSpPr>
        <p:spPr>
          <a:xfrm>
            <a:off x="8266176" y="1993392"/>
            <a:ext cx="2999232" cy="1554480"/>
          </a:xfrm>
          <a:prstGeom prst="rect">
            <a:avLst/>
          </a:prstGeom>
          <a:noFill/>
        </p:spPr>
        <p:txBody>
          <a:bodyPr wrap="square" lIns="0" tIns="0" rIns="0" bIns="0">
            <a:spAutoFit/>
          </a:bodyPr>
          <a:lstStyle/>
          <a:p>
            <a:pPr>
              <a:spcAft>
                <a:spcPts val="400"/>
              </a:spcAft>
              <a:defRPr sz="1200" b="1">
                <a:solidFill>
                  <a:srgbClr val="0F172A"/>
                </a:solidFill>
                <a:latin typeface="Arial"/>
              </a:defRPr>
            </a:pPr>
            <a:r>
              <a:t>EMR &amp; Clinical Consultation</a:t>
            </a:r>
          </a:p>
          <a:p>
            <a:pPr>
              <a:defRPr sz="1000">
                <a:solidFill>
                  <a:srgbClr val="475569"/>
                </a:solidFill>
                <a:latin typeface="Arial"/>
              </a:defRPr>
            </a:pPr>
            <a:r>
              <a:t>Doctor consultation cockpit, patient biometrics tracking, digital prescriptions &amp; health history.</a:t>
            </a:r>
          </a:p>
        </p:txBody>
      </p:sp>
      <p:sp>
        <p:nvSpPr>
          <p:cNvPr id="17" name="Rounded Rectangle 16"/>
          <p:cNvSpPr/>
          <p:nvPr/>
        </p:nvSpPr>
        <p:spPr>
          <a:xfrm>
            <a:off x="731520" y="3931920"/>
            <a:ext cx="3364992" cy="228600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4400" y="4114800"/>
            <a:ext cx="1188720" cy="320040"/>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D97706"/>
                </a:solidFill>
                <a:latin typeface="Arial"/>
              </a:defRPr>
            </a:pPr>
            <a:r>
              <a:t>MODULE 4</a:t>
            </a:r>
          </a:p>
        </p:txBody>
      </p:sp>
      <p:sp>
        <p:nvSpPr>
          <p:cNvPr id="19" name="TextBox 18"/>
          <p:cNvSpPr txBox="1"/>
          <p:nvPr/>
        </p:nvSpPr>
        <p:spPr>
          <a:xfrm>
            <a:off x="914400" y="4553712"/>
            <a:ext cx="2999232" cy="1554480"/>
          </a:xfrm>
          <a:prstGeom prst="rect">
            <a:avLst/>
          </a:prstGeom>
          <a:noFill/>
        </p:spPr>
        <p:txBody>
          <a:bodyPr wrap="square" lIns="0" tIns="0" rIns="0" bIns="0">
            <a:spAutoFit/>
          </a:bodyPr>
          <a:lstStyle/>
          <a:p>
            <a:pPr>
              <a:spcAft>
                <a:spcPts val="400"/>
              </a:spcAft>
              <a:defRPr sz="1200" b="1">
                <a:solidFill>
                  <a:srgbClr val="0F172A"/>
                </a:solidFill>
                <a:latin typeface="Arial"/>
              </a:defRPr>
            </a:pPr>
            <a:r>
              <a:t>Explainable AI (XAI) Decision Support</a:t>
            </a:r>
          </a:p>
          <a:p>
            <a:pPr>
              <a:defRPr sz="1000">
                <a:solidFill>
                  <a:srgbClr val="475569"/>
                </a:solidFill>
                <a:latin typeface="Arial"/>
              </a:defRPr>
            </a:pPr>
            <a:r>
              <a:t>Supervised risk stratification, SHAP biometric factor attribution, What-If simulation &amp; guardrails.</a:t>
            </a:r>
          </a:p>
        </p:txBody>
      </p:sp>
      <p:sp>
        <p:nvSpPr>
          <p:cNvPr id="20" name="Rounded Rectangle 19"/>
          <p:cNvSpPr/>
          <p:nvPr/>
        </p:nvSpPr>
        <p:spPr>
          <a:xfrm>
            <a:off x="4407408" y="3931920"/>
            <a:ext cx="3364992" cy="2286000"/>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90288" y="4114800"/>
            <a:ext cx="1188720" cy="3200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059669"/>
                </a:solidFill>
                <a:latin typeface="Arial"/>
              </a:defRPr>
            </a:pPr>
            <a:r>
              <a:t>MODULE 5</a:t>
            </a:r>
          </a:p>
        </p:txBody>
      </p:sp>
      <p:sp>
        <p:nvSpPr>
          <p:cNvPr id="22" name="TextBox 21"/>
          <p:cNvSpPr txBox="1"/>
          <p:nvPr/>
        </p:nvSpPr>
        <p:spPr>
          <a:xfrm>
            <a:off x="4590288" y="4553712"/>
            <a:ext cx="2999232" cy="1554480"/>
          </a:xfrm>
          <a:prstGeom prst="rect">
            <a:avLst/>
          </a:prstGeom>
          <a:noFill/>
        </p:spPr>
        <p:txBody>
          <a:bodyPr wrap="square" lIns="0" tIns="0" rIns="0" bIns="0">
            <a:spAutoFit/>
          </a:bodyPr>
          <a:lstStyle/>
          <a:p>
            <a:pPr>
              <a:spcAft>
                <a:spcPts val="400"/>
              </a:spcAft>
              <a:defRPr sz="1200" b="1">
                <a:solidFill>
                  <a:srgbClr val="0F172A"/>
                </a:solidFill>
                <a:latin typeface="Arial"/>
              </a:defRPr>
            </a:pPr>
            <a:r>
              <a:t>Hospital Operations &amp; Analytics</a:t>
            </a:r>
          </a:p>
          <a:p>
            <a:pPr>
              <a:defRPr sz="1000">
                <a:solidFill>
                  <a:srgbClr val="475569"/>
                </a:solidFill>
                <a:latin typeface="Arial"/>
              </a:defRPr>
            </a:pPr>
            <a:r>
              <a:t>Staff directory, department load balancing, live throughput metrics &amp; executive dashboards.</a:t>
            </a:r>
          </a:p>
        </p:txBody>
      </p:sp>
      <p:sp>
        <p:nvSpPr>
          <p:cNvPr id="23" name="Rounded Rectangle 22"/>
          <p:cNvSpPr/>
          <p:nvPr/>
        </p:nvSpPr>
        <p:spPr>
          <a:xfrm>
            <a:off x="8083296" y="3931920"/>
            <a:ext cx="3364992" cy="228600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66176" y="4114800"/>
            <a:ext cx="1188720" cy="320040"/>
          </a:xfrm>
          <a:prstGeom prst="roundRect">
            <a:avLst/>
          </a:prstGeom>
          <a:solidFill>
            <a:srgbClr val="FFF1F2"/>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E11D48"/>
                </a:solidFill>
                <a:latin typeface="Arial"/>
              </a:defRPr>
            </a:pPr>
            <a:r>
              <a:t>MODULE 6</a:t>
            </a:r>
          </a:p>
        </p:txBody>
      </p:sp>
      <p:sp>
        <p:nvSpPr>
          <p:cNvPr id="25" name="TextBox 24"/>
          <p:cNvSpPr txBox="1"/>
          <p:nvPr/>
        </p:nvSpPr>
        <p:spPr>
          <a:xfrm>
            <a:off x="8266176" y="4553712"/>
            <a:ext cx="2999232" cy="1554480"/>
          </a:xfrm>
          <a:prstGeom prst="rect">
            <a:avLst/>
          </a:prstGeom>
          <a:noFill/>
        </p:spPr>
        <p:txBody>
          <a:bodyPr wrap="square" lIns="0" tIns="0" rIns="0" bIns="0">
            <a:spAutoFit/>
          </a:bodyPr>
          <a:lstStyle/>
          <a:p>
            <a:pPr>
              <a:spcAft>
                <a:spcPts val="400"/>
              </a:spcAft>
              <a:defRPr sz="1200" b="1">
                <a:solidFill>
                  <a:srgbClr val="0F172A"/>
                </a:solidFill>
                <a:latin typeface="Arial"/>
              </a:defRPr>
            </a:pPr>
            <a:r>
              <a:t>Security Governance &amp; Audit Trails</a:t>
            </a:r>
          </a:p>
          <a:p>
            <a:pPr>
              <a:defRPr sz="1000">
                <a:solidFill>
                  <a:srgbClr val="475569"/>
                </a:solidFill>
                <a:latin typeface="Arial"/>
              </a:defRPr>
            </a:pPr>
            <a:r>
              <a:t>PHI encryption, immutable access logs, regulatory compliance (HIPAA readiness) &amp; audit reporting.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CORE MODULE 1</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Module 1: Authentication, Identity &amp; Role-Based Access Control (RBAC)</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3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3383280" cy="484632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600200"/>
            <a:ext cx="3017520"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D9488"/>
                </a:solidFill>
                <a:latin typeface="Arial"/>
              </a:defRPr>
            </a:pPr>
            <a:r>
              <a:t>AUTHENTICATION ENGINE</a:t>
            </a:r>
          </a:p>
        </p:txBody>
      </p:sp>
      <p:sp>
        <p:nvSpPr>
          <p:cNvPr id="10" name="TextBox 9"/>
          <p:cNvSpPr txBox="1"/>
          <p:nvPr/>
        </p:nvSpPr>
        <p:spPr>
          <a:xfrm>
            <a:off x="914400"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Bcrypt Salted Hashing:</a:t>
            </a:r>
          </a:p>
          <a:p>
            <a:pPr>
              <a:spcAft>
                <a:spcPts val="800"/>
              </a:spcAft>
              <a:defRPr sz="950">
                <a:solidFill>
                  <a:srgbClr val="475569"/>
                </a:solidFill>
                <a:latin typeface="Arial"/>
              </a:defRPr>
            </a:pPr>
            <a:r>
              <a:t>    Passwords hashed with 12 salt rounds before database persistence, preventing rainbow table attacks.</a:t>
            </a:r>
          </a:p>
          <a:p>
            <a:pPr>
              <a:spcAft>
                <a:spcPts val="200"/>
              </a:spcAft>
              <a:defRPr sz="1050" b="1">
                <a:solidFill>
                  <a:srgbClr val="0F172A"/>
                </a:solidFill>
                <a:latin typeface="Arial"/>
              </a:defRPr>
            </a:pPr>
            <a:r>
              <a:t>•  Stateless JWT Tokens:</a:t>
            </a:r>
          </a:p>
          <a:p>
            <a:pPr>
              <a:spcAft>
                <a:spcPts val="800"/>
              </a:spcAft>
              <a:defRPr sz="950">
                <a:solidFill>
                  <a:srgbClr val="475569"/>
                </a:solidFill>
                <a:latin typeface="Arial"/>
              </a:defRPr>
            </a:pPr>
            <a:r>
              <a:t>    Cryptographically signed JSON Web Tokens carrying user claims (sub, email, role, exp).</a:t>
            </a:r>
          </a:p>
          <a:p>
            <a:pPr>
              <a:spcAft>
                <a:spcPts val="200"/>
              </a:spcAft>
              <a:defRPr sz="1050" b="1">
                <a:solidFill>
                  <a:srgbClr val="0F172A"/>
                </a:solidFill>
                <a:latin typeface="Arial"/>
              </a:defRPr>
            </a:pPr>
            <a:r>
              <a:t>•  Token Lifecycle &amp; Refresh:</a:t>
            </a:r>
          </a:p>
          <a:p>
            <a:pPr>
              <a:spcAft>
                <a:spcPts val="800"/>
              </a:spcAft>
              <a:defRPr sz="950">
                <a:solidFill>
                  <a:srgbClr val="475569"/>
                </a:solidFill>
                <a:latin typeface="Arial"/>
              </a:defRPr>
            </a:pPr>
            <a:r>
              <a:t>    Short-lived access tokens (60 min) with refresh rotation to prevent session hijacking.</a:t>
            </a:r>
          </a:p>
          <a:p>
            <a:pPr>
              <a:spcAft>
                <a:spcPts val="200"/>
              </a:spcAft>
              <a:defRPr sz="1050" b="1">
                <a:solidFill>
                  <a:srgbClr val="0F172A"/>
                </a:solidFill>
                <a:latin typeface="Arial"/>
              </a:defRPr>
            </a:pPr>
            <a:r>
              <a:t>•  OAuth2 Bearer Scheme:</a:t>
            </a:r>
          </a:p>
          <a:p>
            <a:pPr>
              <a:spcAft>
                <a:spcPts val="800"/>
              </a:spcAft>
              <a:defRPr sz="950">
                <a:solidFill>
                  <a:srgbClr val="475569"/>
                </a:solidFill>
                <a:latin typeface="Arial"/>
              </a:defRPr>
            </a:pPr>
            <a:r>
              <a:t>    FastAPI OAuth2PasswordBearer flow for standardized API header transmission.</a:t>
            </a:r>
          </a:p>
        </p:txBody>
      </p:sp>
      <p:sp>
        <p:nvSpPr>
          <p:cNvPr id="11" name="Rounded Rectangle 10"/>
          <p:cNvSpPr/>
          <p:nvPr/>
        </p:nvSpPr>
        <p:spPr>
          <a:xfrm>
            <a:off x="4398264" y="1371600"/>
            <a:ext cx="3383280" cy="484632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1144" y="1600200"/>
            <a:ext cx="3017520" cy="3840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284C7"/>
                </a:solidFill>
                <a:latin typeface="Arial"/>
              </a:defRPr>
            </a:pPr>
            <a:r>
              <a:t>GRANULAR ROLE MATRIX</a:t>
            </a:r>
          </a:p>
        </p:txBody>
      </p:sp>
      <p:sp>
        <p:nvSpPr>
          <p:cNvPr id="13" name="TextBox 12"/>
          <p:cNvSpPr txBox="1"/>
          <p:nvPr/>
        </p:nvSpPr>
        <p:spPr>
          <a:xfrm>
            <a:off x="4581144"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Patient Role (Self-Scope):</a:t>
            </a:r>
          </a:p>
          <a:p>
            <a:pPr>
              <a:spcAft>
                <a:spcPts val="800"/>
              </a:spcAft>
              <a:defRPr sz="950">
                <a:solidFill>
                  <a:srgbClr val="475569"/>
                </a:solidFill>
                <a:latin typeface="Arial"/>
              </a:defRPr>
            </a:pPr>
            <a:r>
              <a:t>    Access only personal medical history, book appointments, and view personal prescriptions.</a:t>
            </a:r>
          </a:p>
          <a:p>
            <a:pPr>
              <a:spcAft>
                <a:spcPts val="200"/>
              </a:spcAft>
              <a:defRPr sz="1050" b="1">
                <a:solidFill>
                  <a:srgbClr val="0F172A"/>
                </a:solidFill>
                <a:latin typeface="Arial"/>
              </a:defRPr>
            </a:pPr>
            <a:r>
              <a:t>•  Doctor Role (Clinical-Scope):</a:t>
            </a:r>
          </a:p>
          <a:p>
            <a:pPr>
              <a:spcAft>
                <a:spcPts val="800"/>
              </a:spcAft>
              <a:defRPr sz="950">
                <a:solidFill>
                  <a:srgbClr val="475569"/>
                </a:solidFill>
                <a:latin typeface="Arial"/>
              </a:defRPr>
            </a:pPr>
            <a:r>
              <a:t>    View assigned appointment queue, manage clinical consultations, vitals, and CDSS tools.</a:t>
            </a:r>
          </a:p>
          <a:p>
            <a:pPr>
              <a:spcAft>
                <a:spcPts val="200"/>
              </a:spcAft>
              <a:defRPr sz="1050" b="1">
                <a:solidFill>
                  <a:srgbClr val="0F172A"/>
                </a:solidFill>
                <a:latin typeface="Arial"/>
              </a:defRPr>
            </a:pPr>
            <a:r>
              <a:t>•  Admin Role (System-Scope):</a:t>
            </a:r>
          </a:p>
          <a:p>
            <a:pPr>
              <a:spcAft>
                <a:spcPts val="800"/>
              </a:spcAft>
              <a:defRPr sz="950">
                <a:solidFill>
                  <a:srgbClr val="475569"/>
                </a:solidFill>
                <a:latin typeface="Arial"/>
              </a:defRPr>
            </a:pPr>
            <a:r>
              <a:t>    Manage hospital roster, oversee all departmental queues, inspect audit logs and analytics.</a:t>
            </a:r>
          </a:p>
          <a:p>
            <a:pPr>
              <a:spcAft>
                <a:spcPts val="200"/>
              </a:spcAft>
              <a:defRPr sz="1050" b="1">
                <a:solidFill>
                  <a:srgbClr val="0F172A"/>
                </a:solidFill>
                <a:latin typeface="Arial"/>
              </a:defRPr>
            </a:pPr>
            <a:r>
              <a:t>•  Least Privilege Principle:</a:t>
            </a:r>
          </a:p>
          <a:p>
            <a:pPr>
              <a:spcAft>
                <a:spcPts val="800"/>
              </a:spcAft>
              <a:defRPr sz="950">
                <a:solidFill>
                  <a:srgbClr val="475569"/>
                </a:solidFill>
                <a:latin typeface="Arial"/>
              </a:defRPr>
            </a:pPr>
            <a:r>
              <a:t>    Strict zero-trust access boundaries enforced at both frontend and backend layers.</a:t>
            </a:r>
          </a:p>
        </p:txBody>
      </p:sp>
      <p:sp>
        <p:nvSpPr>
          <p:cNvPr id="14" name="Rounded Rectangle 13"/>
          <p:cNvSpPr/>
          <p:nvPr/>
        </p:nvSpPr>
        <p:spPr>
          <a:xfrm>
            <a:off x="8065008" y="1371600"/>
            <a:ext cx="33832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47888" y="1600200"/>
            <a:ext cx="3017520" cy="38404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F172A"/>
                </a:solidFill>
                <a:latin typeface="Arial"/>
              </a:defRPr>
            </a:pPr>
            <a:r>
              <a:t>SECURITY ENFORCEMENT</a:t>
            </a:r>
          </a:p>
        </p:txBody>
      </p:sp>
      <p:sp>
        <p:nvSpPr>
          <p:cNvPr id="16" name="TextBox 15"/>
          <p:cNvSpPr txBox="1"/>
          <p:nvPr/>
        </p:nvSpPr>
        <p:spPr>
          <a:xfrm>
            <a:off x="8247888"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FastAPI Route Guards:</a:t>
            </a:r>
          </a:p>
          <a:p>
            <a:pPr>
              <a:spcAft>
                <a:spcPts val="800"/>
              </a:spcAft>
              <a:defRPr sz="950">
                <a:solidFill>
                  <a:srgbClr val="475569"/>
                </a:solidFill>
                <a:latin typeface="Arial"/>
              </a:defRPr>
            </a:pPr>
            <a:r>
              <a:t>    Declarative Depends(get_current_active_user) and role-checking dependencies on endpoints.</a:t>
            </a:r>
          </a:p>
          <a:p>
            <a:pPr>
              <a:spcAft>
                <a:spcPts val="200"/>
              </a:spcAft>
              <a:defRPr sz="1050" b="1">
                <a:solidFill>
                  <a:srgbClr val="0F172A"/>
                </a:solidFill>
                <a:latin typeface="Arial"/>
              </a:defRPr>
            </a:pPr>
            <a:r>
              <a:t>•  React Protected Routes:</a:t>
            </a:r>
          </a:p>
          <a:p>
            <a:pPr>
              <a:spcAft>
                <a:spcPts val="800"/>
              </a:spcAft>
              <a:defRPr sz="950">
                <a:solidFill>
                  <a:srgbClr val="475569"/>
                </a:solidFill>
                <a:latin typeface="Arial"/>
              </a:defRPr>
            </a:pPr>
            <a:r>
              <a:t>    Client-side route guards redirect unauthorized navigation immediately to login.</a:t>
            </a:r>
          </a:p>
          <a:p>
            <a:pPr>
              <a:spcAft>
                <a:spcPts val="200"/>
              </a:spcAft>
              <a:defRPr sz="1050" b="1">
                <a:solidFill>
                  <a:srgbClr val="0F172A"/>
                </a:solidFill>
                <a:latin typeface="Arial"/>
              </a:defRPr>
            </a:pPr>
            <a:r>
              <a:t>•  Session Invalidation:</a:t>
            </a:r>
          </a:p>
          <a:p>
            <a:pPr>
              <a:spcAft>
                <a:spcPts val="800"/>
              </a:spcAft>
              <a:defRPr sz="950">
                <a:solidFill>
                  <a:srgbClr val="475569"/>
                </a:solidFill>
                <a:latin typeface="Arial"/>
              </a:defRPr>
            </a:pPr>
            <a:r>
              <a:t>    One-click logout invalidates client tokens and terminates active browser storage.</a:t>
            </a:r>
          </a:p>
          <a:p>
            <a:pPr>
              <a:spcAft>
                <a:spcPts val="200"/>
              </a:spcAft>
              <a:defRPr sz="1050" b="1">
                <a:solidFill>
                  <a:srgbClr val="0F172A"/>
                </a:solidFill>
                <a:latin typeface="Arial"/>
              </a:defRPr>
            </a:pPr>
            <a:r>
              <a:t>•  Payload Sanitization:</a:t>
            </a:r>
          </a:p>
          <a:p>
            <a:pPr>
              <a:spcAft>
                <a:spcPts val="800"/>
              </a:spcAft>
              <a:defRPr sz="950">
                <a:solidFill>
                  <a:srgbClr val="475569"/>
                </a:solidFill>
                <a:latin typeface="Arial"/>
              </a:defRPr>
            </a:pPr>
            <a:r>
              <a:t>    Pydantic v2 schemas rigorously sanitize and validate all login and registration payloads.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CORE MODULE 2</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Module 2: Dynamic Doctor Scheduling &amp; Appointment Management</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4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3383280" cy="484632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600200"/>
            <a:ext cx="3017520" cy="3840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284C7"/>
                </a:solidFill>
                <a:latin typeface="Arial"/>
              </a:defRPr>
            </a:pPr>
            <a:r>
              <a:t>SCHEDULE CONFIGURATION</a:t>
            </a:r>
          </a:p>
        </p:txBody>
      </p:sp>
      <p:sp>
        <p:nvSpPr>
          <p:cNvPr id="10" name="TextBox 9"/>
          <p:cNvSpPr txBox="1"/>
          <p:nvPr/>
        </p:nvSpPr>
        <p:spPr>
          <a:xfrm>
            <a:off x="914400"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Configurable Slot Generator:</a:t>
            </a:r>
          </a:p>
          <a:p>
            <a:pPr>
              <a:spcAft>
                <a:spcPts val="800"/>
              </a:spcAft>
              <a:defRPr sz="950">
                <a:solidFill>
                  <a:srgbClr val="475569"/>
                </a:solidFill>
                <a:latin typeface="Arial"/>
              </a:defRPr>
            </a:pPr>
            <a:r>
              <a:t>    Doctors configure working days, shift hours (e.g. 09:00 - 17:00), and slot durations (default 30 mins).</a:t>
            </a:r>
          </a:p>
          <a:p>
            <a:pPr>
              <a:spcAft>
                <a:spcPts val="200"/>
              </a:spcAft>
              <a:defRPr sz="1050" b="1">
                <a:solidFill>
                  <a:srgbClr val="0F172A"/>
                </a:solidFill>
                <a:latin typeface="Arial"/>
              </a:defRPr>
            </a:pPr>
            <a:r>
              <a:t>•  Break &amp; Leave Management:</a:t>
            </a:r>
          </a:p>
          <a:p>
            <a:pPr>
              <a:spcAft>
                <a:spcPts val="800"/>
              </a:spcAft>
              <a:defRPr sz="950">
                <a:solidFill>
                  <a:srgbClr val="475569"/>
                </a:solidFill>
                <a:latin typeface="Arial"/>
              </a:defRPr>
            </a:pPr>
            <a:r>
              <a:t>    Doctors can block out lunch hours, emergency slots, or leave periods dynamically.</a:t>
            </a:r>
          </a:p>
          <a:p>
            <a:pPr>
              <a:spcAft>
                <a:spcPts val="200"/>
              </a:spcAft>
              <a:defRPr sz="1050" b="1">
                <a:solidFill>
                  <a:srgbClr val="0F172A"/>
                </a:solidFill>
                <a:latin typeface="Arial"/>
              </a:defRPr>
            </a:pPr>
            <a:r>
              <a:t>•  Real-Time Slot Engine:</a:t>
            </a:r>
          </a:p>
          <a:p>
            <a:pPr>
              <a:spcAft>
                <a:spcPts val="800"/>
              </a:spcAft>
              <a:defRPr sz="950">
                <a:solidFill>
                  <a:srgbClr val="475569"/>
                </a:solidFill>
                <a:latin typeface="Arial"/>
              </a:defRPr>
            </a:pPr>
            <a:r>
              <a:t>    System dynamically computes available bookable slots excluding booked or blocked slots.</a:t>
            </a:r>
          </a:p>
          <a:p>
            <a:pPr>
              <a:spcAft>
                <a:spcPts val="200"/>
              </a:spcAft>
              <a:defRPr sz="1050" b="1">
                <a:solidFill>
                  <a:srgbClr val="0F172A"/>
                </a:solidFill>
                <a:latin typeface="Arial"/>
              </a:defRPr>
            </a:pPr>
            <a:r>
              <a:t>•  Multi-Doctor Filtering:</a:t>
            </a:r>
          </a:p>
          <a:p>
            <a:pPr>
              <a:spcAft>
                <a:spcPts val="800"/>
              </a:spcAft>
              <a:defRPr sz="950">
                <a:solidFill>
                  <a:srgbClr val="475569"/>
                </a:solidFill>
                <a:latin typeface="Arial"/>
              </a:defRPr>
            </a:pPr>
            <a:r>
              <a:t>    Patients filter slots by department (Cardiology, Neurology, General Medicine), date, and doctor.</a:t>
            </a:r>
          </a:p>
        </p:txBody>
      </p:sp>
      <p:sp>
        <p:nvSpPr>
          <p:cNvPr id="11" name="Rounded Rectangle 10"/>
          <p:cNvSpPr/>
          <p:nvPr/>
        </p:nvSpPr>
        <p:spPr>
          <a:xfrm>
            <a:off x="4398264" y="1371600"/>
            <a:ext cx="3383280" cy="484632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1144" y="1600200"/>
            <a:ext cx="3017520"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D9488"/>
                </a:solidFill>
                <a:latin typeface="Arial"/>
              </a:defRPr>
            </a:pPr>
            <a:r>
              <a:t>TRANSACTIONAL BOOKING</a:t>
            </a:r>
          </a:p>
        </p:txBody>
      </p:sp>
      <p:sp>
        <p:nvSpPr>
          <p:cNvPr id="13" name="TextBox 12"/>
          <p:cNvSpPr txBox="1"/>
          <p:nvPr/>
        </p:nvSpPr>
        <p:spPr>
          <a:xfrm>
            <a:off x="4581144"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ACID Conflict Prevention:</a:t>
            </a:r>
          </a:p>
          <a:p>
            <a:pPr>
              <a:spcAft>
                <a:spcPts val="800"/>
              </a:spcAft>
              <a:defRPr sz="950">
                <a:solidFill>
                  <a:srgbClr val="475569"/>
                </a:solidFill>
                <a:latin typeface="Arial"/>
              </a:defRPr>
            </a:pPr>
            <a:r>
              <a:t>    PostgreSQL serializable isolation and unique composite constraints eliminate double-booking.</a:t>
            </a:r>
          </a:p>
          <a:p>
            <a:pPr>
              <a:spcAft>
                <a:spcPts val="200"/>
              </a:spcAft>
              <a:defRPr sz="1050" b="1">
                <a:solidFill>
                  <a:srgbClr val="0F172A"/>
                </a:solidFill>
                <a:latin typeface="Arial"/>
              </a:defRPr>
            </a:pPr>
            <a:r>
              <a:t>•  Instant Booking Confirmation:</a:t>
            </a:r>
          </a:p>
          <a:p>
            <a:pPr>
              <a:spcAft>
                <a:spcPts val="800"/>
              </a:spcAft>
              <a:defRPr sz="950">
                <a:solidFill>
                  <a:srgbClr val="475569"/>
                </a:solidFill>
                <a:latin typeface="Arial"/>
              </a:defRPr>
            </a:pPr>
            <a:r>
              <a:t>    Patients confirm slot in one click with instant status change from Available to Booked.</a:t>
            </a:r>
          </a:p>
          <a:p>
            <a:pPr>
              <a:spcAft>
                <a:spcPts val="200"/>
              </a:spcAft>
              <a:defRPr sz="1050" b="1">
                <a:solidFill>
                  <a:srgbClr val="0F172A"/>
                </a:solidFill>
                <a:latin typeface="Arial"/>
              </a:defRPr>
            </a:pPr>
            <a:r>
              <a:t>•  Cancellation &amp; Rescheduling:</a:t>
            </a:r>
          </a:p>
          <a:p>
            <a:pPr>
              <a:spcAft>
                <a:spcPts val="800"/>
              </a:spcAft>
              <a:defRPr sz="950">
                <a:solidFill>
                  <a:srgbClr val="475569"/>
                </a:solidFill>
                <a:latin typeface="Arial"/>
              </a:defRPr>
            </a:pPr>
            <a:r>
              <a:t>    Patients or doctors can cancel/reschedule with automatic status updates and queue rebalancing.</a:t>
            </a:r>
          </a:p>
          <a:p>
            <a:pPr>
              <a:spcAft>
                <a:spcPts val="200"/>
              </a:spcAft>
              <a:defRPr sz="1050" b="1">
                <a:solidFill>
                  <a:srgbClr val="0F172A"/>
                </a:solidFill>
                <a:latin typeface="Arial"/>
              </a:defRPr>
            </a:pPr>
            <a:r>
              <a:t>•  No-Show Reduction Alerts:</a:t>
            </a:r>
          </a:p>
          <a:p>
            <a:pPr>
              <a:spcAft>
                <a:spcPts val="800"/>
              </a:spcAft>
              <a:defRPr sz="950">
                <a:solidFill>
                  <a:srgbClr val="475569"/>
                </a:solidFill>
                <a:latin typeface="Arial"/>
              </a:defRPr>
            </a:pPr>
            <a:r>
              <a:t>    Pre-appointment notification badges alert patients to upcoming visit times.</a:t>
            </a:r>
          </a:p>
        </p:txBody>
      </p:sp>
      <p:sp>
        <p:nvSpPr>
          <p:cNvPr id="14" name="Rounded Rectangle 13"/>
          <p:cNvSpPr/>
          <p:nvPr/>
        </p:nvSpPr>
        <p:spPr>
          <a:xfrm>
            <a:off x="8065008" y="1371600"/>
            <a:ext cx="33832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47888" y="1600200"/>
            <a:ext cx="3017520" cy="38404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F172A"/>
                </a:solidFill>
                <a:latin typeface="Arial"/>
              </a:defRPr>
            </a:pPr>
            <a:r>
              <a:t>STATUS LIFECYCLE ENGINE</a:t>
            </a:r>
          </a:p>
        </p:txBody>
      </p:sp>
      <p:sp>
        <p:nvSpPr>
          <p:cNvPr id="16" name="TextBox 15"/>
          <p:cNvSpPr txBox="1"/>
          <p:nvPr/>
        </p:nvSpPr>
        <p:spPr>
          <a:xfrm>
            <a:off x="8247888"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State Machine Logic:</a:t>
            </a:r>
          </a:p>
          <a:p>
            <a:pPr>
              <a:spcAft>
                <a:spcPts val="800"/>
              </a:spcAft>
              <a:defRPr sz="950">
                <a:solidFill>
                  <a:srgbClr val="475569"/>
                </a:solidFill>
                <a:latin typeface="Arial"/>
              </a:defRPr>
            </a:pPr>
            <a:r>
              <a:t>    Appointments progress through: SCHEDULED → IN_PROGRESS → COMPLETED or CANCELLED.</a:t>
            </a:r>
          </a:p>
          <a:p>
            <a:pPr>
              <a:spcAft>
                <a:spcPts val="200"/>
              </a:spcAft>
              <a:defRPr sz="1050" b="1">
                <a:solidFill>
                  <a:srgbClr val="0F172A"/>
                </a:solidFill>
                <a:latin typeface="Arial"/>
              </a:defRPr>
            </a:pPr>
            <a:r>
              <a:t>•  Queue Check-In Cockpit:</a:t>
            </a:r>
          </a:p>
          <a:p>
            <a:pPr>
              <a:spcAft>
                <a:spcPts val="800"/>
              </a:spcAft>
              <a:defRPr sz="950">
                <a:solidFill>
                  <a:srgbClr val="475569"/>
                </a:solidFill>
                <a:latin typeface="Arial"/>
              </a:defRPr>
            </a:pPr>
            <a:r>
              <a:t>    Doctors mark patient arrival, triggering real-time wait-room updates.</a:t>
            </a:r>
          </a:p>
          <a:p>
            <a:pPr>
              <a:spcAft>
                <a:spcPts val="200"/>
              </a:spcAft>
              <a:defRPr sz="1050" b="1">
                <a:solidFill>
                  <a:srgbClr val="0F172A"/>
                </a:solidFill>
                <a:latin typeface="Arial"/>
              </a:defRPr>
            </a:pPr>
            <a:r>
              <a:t>•  Historical Appointment Logs:</a:t>
            </a:r>
          </a:p>
          <a:p>
            <a:pPr>
              <a:spcAft>
                <a:spcPts val="800"/>
              </a:spcAft>
              <a:defRPr sz="950">
                <a:solidFill>
                  <a:srgbClr val="475569"/>
                </a:solidFill>
                <a:latin typeface="Arial"/>
              </a:defRPr>
            </a:pPr>
            <a:r>
              <a:t>    Complete historical logs of past, completed, and missed visits for both patient and clinician.</a:t>
            </a:r>
          </a:p>
          <a:p>
            <a:pPr>
              <a:spcAft>
                <a:spcPts val="200"/>
              </a:spcAft>
              <a:defRPr sz="1050" b="1">
                <a:solidFill>
                  <a:srgbClr val="0F172A"/>
                </a:solidFill>
                <a:latin typeface="Arial"/>
              </a:defRPr>
            </a:pPr>
            <a:r>
              <a:t>•  Concurrent Load Handling:</a:t>
            </a:r>
          </a:p>
          <a:p>
            <a:pPr>
              <a:spcAft>
                <a:spcPts val="800"/>
              </a:spcAft>
              <a:defRPr sz="950">
                <a:solidFill>
                  <a:srgbClr val="475569"/>
                </a:solidFill>
                <a:latin typeface="Arial"/>
              </a:defRPr>
            </a:pPr>
            <a:r>
              <a:t>    Handles concurrent booking requests smoothly without race conditions.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CORE MODULE 3</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Module 3: Electronic Medical Records (EMR) &amp; Clinical Consultation Cockpit</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5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3383280" cy="4846320"/>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600200"/>
            <a:ext cx="3017520" cy="384048"/>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7E22CE"/>
                </a:solidFill>
                <a:latin typeface="Arial"/>
              </a:defRPr>
            </a:pPr>
            <a:r>
              <a:t>CLINICAL CONSULTATION</a:t>
            </a:r>
          </a:p>
        </p:txBody>
      </p:sp>
      <p:sp>
        <p:nvSpPr>
          <p:cNvPr id="10" name="TextBox 9"/>
          <p:cNvSpPr txBox="1"/>
          <p:nvPr/>
        </p:nvSpPr>
        <p:spPr>
          <a:xfrm>
            <a:off x="914400"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Structured Clinical Notes:</a:t>
            </a:r>
          </a:p>
          <a:p>
            <a:pPr>
              <a:spcAft>
                <a:spcPts val="800"/>
              </a:spcAft>
              <a:defRPr sz="950">
                <a:solidFill>
                  <a:srgbClr val="475569"/>
                </a:solidFill>
                <a:latin typeface="Arial"/>
              </a:defRPr>
            </a:pPr>
            <a:r>
              <a:t>    Doctor inputs Chief Complaints, Clinical Observations, Differential Diagnosis, and Treatment Plan.</a:t>
            </a:r>
          </a:p>
          <a:p>
            <a:pPr>
              <a:spcAft>
                <a:spcPts val="200"/>
              </a:spcAft>
              <a:defRPr sz="1050" b="1">
                <a:solidFill>
                  <a:srgbClr val="0F172A"/>
                </a:solidFill>
                <a:latin typeface="Arial"/>
              </a:defRPr>
            </a:pPr>
            <a:r>
              <a:t>•  ICD-Aligned Categorization:</a:t>
            </a:r>
          </a:p>
          <a:p>
            <a:pPr>
              <a:spcAft>
                <a:spcPts val="800"/>
              </a:spcAft>
              <a:defRPr sz="950">
                <a:solidFill>
                  <a:srgbClr val="475569"/>
                </a:solidFill>
                <a:latin typeface="Arial"/>
              </a:defRPr>
            </a:pPr>
            <a:r>
              <a:t>    Standardized diagnostic classifications for accurate medical coding and disease categorization.</a:t>
            </a:r>
          </a:p>
          <a:p>
            <a:pPr>
              <a:spcAft>
                <a:spcPts val="200"/>
              </a:spcAft>
              <a:defRPr sz="1050" b="1">
                <a:solidFill>
                  <a:srgbClr val="0F172A"/>
                </a:solidFill>
                <a:latin typeface="Arial"/>
              </a:defRPr>
            </a:pPr>
            <a:r>
              <a:t>•  Consultation Status Flow:</a:t>
            </a:r>
          </a:p>
          <a:p>
            <a:pPr>
              <a:spcAft>
                <a:spcPts val="800"/>
              </a:spcAft>
              <a:defRPr sz="950">
                <a:solidFill>
                  <a:srgbClr val="475569"/>
                </a:solidFill>
                <a:latin typeface="Arial"/>
              </a:defRPr>
            </a:pPr>
            <a:r>
              <a:t>    Seamless transition from active consultation to finalized medical report.</a:t>
            </a:r>
          </a:p>
          <a:p>
            <a:pPr>
              <a:spcAft>
                <a:spcPts val="200"/>
              </a:spcAft>
              <a:defRPr sz="1050" b="1">
                <a:solidFill>
                  <a:srgbClr val="0F172A"/>
                </a:solidFill>
                <a:latin typeface="Arial"/>
              </a:defRPr>
            </a:pPr>
            <a:r>
              <a:t>•  Historical Context Access:</a:t>
            </a:r>
          </a:p>
          <a:p>
            <a:pPr>
              <a:spcAft>
                <a:spcPts val="800"/>
              </a:spcAft>
              <a:defRPr sz="950">
                <a:solidFill>
                  <a:srgbClr val="475569"/>
                </a:solidFill>
                <a:latin typeface="Arial"/>
              </a:defRPr>
            </a:pPr>
            <a:r>
              <a:t>    Doctors can review previous visits and prescriptions during the ongoing consultation.</a:t>
            </a:r>
          </a:p>
        </p:txBody>
      </p:sp>
      <p:sp>
        <p:nvSpPr>
          <p:cNvPr id="11" name="Rounded Rectangle 10"/>
          <p:cNvSpPr/>
          <p:nvPr/>
        </p:nvSpPr>
        <p:spPr>
          <a:xfrm>
            <a:off x="4398264" y="1371600"/>
            <a:ext cx="3383280" cy="484632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1144" y="1600200"/>
            <a:ext cx="3017520"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D9488"/>
                </a:solidFill>
                <a:latin typeface="Arial"/>
              </a:defRPr>
            </a:pPr>
            <a:r>
              <a:t>BIOMETRIC VITALS TRACKER</a:t>
            </a:r>
          </a:p>
        </p:txBody>
      </p:sp>
      <p:sp>
        <p:nvSpPr>
          <p:cNvPr id="13" name="TextBox 12"/>
          <p:cNvSpPr txBox="1"/>
          <p:nvPr/>
        </p:nvSpPr>
        <p:spPr>
          <a:xfrm>
            <a:off x="4581144"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Core Biometrics Ingestion:</a:t>
            </a:r>
          </a:p>
          <a:p>
            <a:pPr>
              <a:spcAft>
                <a:spcPts val="800"/>
              </a:spcAft>
              <a:defRPr sz="950">
                <a:solidFill>
                  <a:srgbClr val="475569"/>
                </a:solidFill>
                <a:latin typeface="Arial"/>
              </a:defRPr>
            </a:pPr>
            <a:r>
              <a:t>    Records Systolic/Diastolic BP, Heart Rate, Fasting Blood Sugar, BMI, Body Temp, and SpO2.</a:t>
            </a:r>
          </a:p>
          <a:p>
            <a:pPr>
              <a:spcAft>
                <a:spcPts val="200"/>
              </a:spcAft>
              <a:defRPr sz="1050" b="1">
                <a:solidFill>
                  <a:srgbClr val="0F172A"/>
                </a:solidFill>
                <a:latin typeface="Arial"/>
              </a:defRPr>
            </a:pPr>
            <a:r>
              <a:t>•  Visual Longitudinal Trends:</a:t>
            </a:r>
          </a:p>
          <a:p>
            <a:pPr>
              <a:spcAft>
                <a:spcPts val="800"/>
              </a:spcAft>
              <a:defRPr sz="950">
                <a:solidFill>
                  <a:srgbClr val="475569"/>
                </a:solidFill>
                <a:latin typeface="Arial"/>
              </a:defRPr>
            </a:pPr>
            <a:r>
              <a:t>    Interactive Recharts line graphs show vital changes across historical patient visits.</a:t>
            </a:r>
          </a:p>
          <a:p>
            <a:pPr>
              <a:spcAft>
                <a:spcPts val="200"/>
              </a:spcAft>
              <a:defRPr sz="1050" b="1">
                <a:solidFill>
                  <a:srgbClr val="0F172A"/>
                </a:solidFill>
                <a:latin typeface="Arial"/>
              </a:defRPr>
            </a:pPr>
            <a:r>
              <a:t>•  Abnormal Vitals Alerts:</a:t>
            </a:r>
          </a:p>
          <a:p>
            <a:pPr>
              <a:spcAft>
                <a:spcPts val="800"/>
              </a:spcAft>
              <a:defRPr sz="950">
                <a:solidFill>
                  <a:srgbClr val="475569"/>
                </a:solidFill>
                <a:latin typeface="Arial"/>
              </a:defRPr>
            </a:pPr>
            <a:r>
              <a:t>    Immediate color-coded warnings if biometric values exceed clinical thresholds (e.g. BP &gt; 140/90).</a:t>
            </a:r>
          </a:p>
          <a:p>
            <a:pPr>
              <a:spcAft>
                <a:spcPts val="200"/>
              </a:spcAft>
              <a:defRPr sz="1050" b="1">
                <a:solidFill>
                  <a:srgbClr val="0F172A"/>
                </a:solidFill>
                <a:latin typeface="Arial"/>
              </a:defRPr>
            </a:pPr>
            <a:r>
              <a:t>•  Direct CDSS Pipeline:</a:t>
            </a:r>
          </a:p>
          <a:p>
            <a:pPr>
              <a:spcAft>
                <a:spcPts val="800"/>
              </a:spcAft>
              <a:defRPr sz="950">
                <a:solidFill>
                  <a:srgbClr val="475569"/>
                </a:solidFill>
                <a:latin typeface="Arial"/>
              </a:defRPr>
            </a:pPr>
            <a:r>
              <a:t>    Vitals entered here seamlessly flow into the Machine Learning engine for risk calculation.</a:t>
            </a:r>
          </a:p>
        </p:txBody>
      </p:sp>
      <p:sp>
        <p:nvSpPr>
          <p:cNvPr id="14" name="Rounded Rectangle 13"/>
          <p:cNvSpPr/>
          <p:nvPr/>
        </p:nvSpPr>
        <p:spPr>
          <a:xfrm>
            <a:off x="8065008" y="1371600"/>
            <a:ext cx="3383280" cy="484632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47888" y="1600200"/>
            <a:ext cx="3017520" cy="3840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284C7"/>
                </a:solidFill>
                <a:latin typeface="Arial"/>
              </a:defRPr>
            </a:pPr>
            <a:r>
              <a:t>DIGITAL PRESCRIPTIONS (RX)</a:t>
            </a:r>
          </a:p>
        </p:txBody>
      </p:sp>
      <p:sp>
        <p:nvSpPr>
          <p:cNvPr id="16" name="TextBox 15"/>
          <p:cNvSpPr txBox="1"/>
          <p:nvPr/>
        </p:nvSpPr>
        <p:spPr>
          <a:xfrm>
            <a:off x="8247888"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Itemized Rx Generator:</a:t>
            </a:r>
          </a:p>
          <a:p>
            <a:pPr>
              <a:spcAft>
                <a:spcPts val="800"/>
              </a:spcAft>
              <a:defRPr sz="950">
                <a:solidFill>
                  <a:srgbClr val="475569"/>
                </a:solidFill>
                <a:latin typeface="Arial"/>
              </a:defRPr>
            </a:pPr>
            <a:r>
              <a:t>    Captures medication name, dosage (mg/ml), frequency (e.g. 1-0-1), route, and duration in days.</a:t>
            </a:r>
          </a:p>
          <a:p>
            <a:pPr>
              <a:spcAft>
                <a:spcPts val="200"/>
              </a:spcAft>
              <a:defRPr sz="1050" b="1">
                <a:solidFill>
                  <a:srgbClr val="0F172A"/>
                </a:solidFill>
                <a:latin typeface="Arial"/>
              </a:defRPr>
            </a:pPr>
            <a:r>
              <a:t>•  Special Instructions:</a:t>
            </a:r>
          </a:p>
          <a:p>
            <a:pPr>
              <a:spcAft>
                <a:spcPts val="800"/>
              </a:spcAft>
              <a:defRPr sz="950">
                <a:solidFill>
                  <a:srgbClr val="475569"/>
                </a:solidFill>
                <a:latin typeface="Arial"/>
              </a:defRPr>
            </a:pPr>
            <a:r>
              <a:t>    Configures specific dietary instructions (e.g., 'Take after food', 'Avoid dairy').</a:t>
            </a:r>
          </a:p>
          <a:p>
            <a:pPr>
              <a:spcAft>
                <a:spcPts val="200"/>
              </a:spcAft>
              <a:defRPr sz="1050" b="1">
                <a:solidFill>
                  <a:srgbClr val="0F172A"/>
                </a:solidFill>
                <a:latin typeface="Arial"/>
              </a:defRPr>
            </a:pPr>
            <a:r>
              <a:t>•  Patient Timeline Delivery:</a:t>
            </a:r>
          </a:p>
          <a:p>
            <a:pPr>
              <a:spcAft>
                <a:spcPts val="800"/>
              </a:spcAft>
              <a:defRPr sz="950">
                <a:solidFill>
                  <a:srgbClr val="475569"/>
                </a:solidFill>
                <a:latin typeface="Arial"/>
              </a:defRPr>
            </a:pPr>
            <a:r>
              <a:t>    Prescriptions instantly appear on the patient's personal portal for download/viewing.</a:t>
            </a:r>
          </a:p>
          <a:p>
            <a:pPr>
              <a:spcAft>
                <a:spcPts val="200"/>
              </a:spcAft>
              <a:defRPr sz="1050" b="1">
                <a:solidFill>
                  <a:srgbClr val="0F172A"/>
                </a:solidFill>
                <a:latin typeface="Arial"/>
              </a:defRPr>
            </a:pPr>
            <a:r>
              <a:t>•  Historical Preservation:</a:t>
            </a:r>
          </a:p>
          <a:p>
            <a:pPr>
              <a:spcAft>
                <a:spcPts val="800"/>
              </a:spcAft>
              <a:defRPr sz="950">
                <a:solidFill>
                  <a:srgbClr val="475569"/>
                </a:solidFill>
                <a:latin typeface="Arial"/>
              </a:defRPr>
            </a:pPr>
            <a:r>
              <a:t>    Immutable digital archive of past medications prevents dangerous polypharmacy errors.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CORE MODULE 4</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Module 4: Explainable AI (XAI) &amp; Clinical Decision Support System (CDSS)</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6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3383280" cy="484632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600200"/>
            <a:ext cx="3017520" cy="384048"/>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D97706"/>
                </a:solidFill>
                <a:latin typeface="Arial"/>
              </a:defRPr>
            </a:pPr>
            <a:r>
              <a:t>PREDICTIVE RISK ENGINE</a:t>
            </a:r>
          </a:p>
        </p:txBody>
      </p:sp>
      <p:sp>
        <p:nvSpPr>
          <p:cNvPr id="10" name="TextBox 9"/>
          <p:cNvSpPr txBox="1"/>
          <p:nvPr/>
        </p:nvSpPr>
        <p:spPr>
          <a:xfrm>
            <a:off x="914400"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Validated ML Classifier:</a:t>
            </a:r>
          </a:p>
          <a:p>
            <a:pPr>
              <a:spcAft>
                <a:spcPts val="800"/>
              </a:spcAft>
              <a:defRPr sz="950">
                <a:solidFill>
                  <a:srgbClr val="475569"/>
                </a:solidFill>
                <a:latin typeface="Arial"/>
              </a:defRPr>
            </a:pPr>
            <a:r>
              <a:t>    Calibrated Ensemble / Random Forest model trained on clinical cardiovascular biometrics.</a:t>
            </a:r>
          </a:p>
          <a:p>
            <a:pPr>
              <a:spcAft>
                <a:spcPts val="200"/>
              </a:spcAft>
              <a:defRPr sz="1050" b="1">
                <a:solidFill>
                  <a:srgbClr val="0F172A"/>
                </a:solidFill>
                <a:latin typeface="Arial"/>
              </a:defRPr>
            </a:pPr>
            <a:r>
              <a:t>•  Key Biomarker Inputs:</a:t>
            </a:r>
          </a:p>
          <a:p>
            <a:pPr>
              <a:spcAft>
                <a:spcPts val="800"/>
              </a:spcAft>
              <a:defRPr sz="950">
                <a:solidFill>
                  <a:srgbClr val="475569"/>
                </a:solidFill>
                <a:latin typeface="Arial"/>
              </a:defRPr>
            </a:pPr>
            <a:r>
              <a:t>    Age, Sex, Resting BP, Serum Cholesterol, Fasting Blood Sugar, Resting ECG, Max HR, Angina.</a:t>
            </a:r>
          </a:p>
          <a:p>
            <a:pPr>
              <a:spcAft>
                <a:spcPts val="200"/>
              </a:spcAft>
              <a:defRPr sz="1050" b="1">
                <a:solidFill>
                  <a:srgbClr val="0F172A"/>
                </a:solidFill>
                <a:latin typeface="Arial"/>
              </a:defRPr>
            </a:pPr>
            <a:r>
              <a:t>•  Triage Categorization:</a:t>
            </a:r>
          </a:p>
          <a:p>
            <a:pPr>
              <a:spcAft>
                <a:spcPts val="800"/>
              </a:spcAft>
              <a:defRPr sz="950">
                <a:solidFill>
                  <a:srgbClr val="475569"/>
                </a:solidFill>
                <a:latin typeface="Arial"/>
              </a:defRPr>
            </a:pPr>
            <a:r>
              <a:t>    Predicts continuous risk score (0.0 to 1.0) and maps to LOW, MODERATE, or HIGH risk categories.</a:t>
            </a:r>
          </a:p>
          <a:p>
            <a:pPr>
              <a:spcAft>
                <a:spcPts val="200"/>
              </a:spcAft>
              <a:defRPr sz="1050" b="1">
                <a:solidFill>
                  <a:srgbClr val="0F172A"/>
                </a:solidFill>
                <a:latin typeface="Arial"/>
              </a:defRPr>
            </a:pPr>
            <a:r>
              <a:t>•  High Sensitivity Tuning:</a:t>
            </a:r>
          </a:p>
          <a:p>
            <a:pPr>
              <a:spcAft>
                <a:spcPts val="800"/>
              </a:spcAft>
              <a:defRPr sz="950">
                <a:solidFill>
                  <a:srgbClr val="475569"/>
                </a:solidFill>
                <a:latin typeface="Arial"/>
              </a:defRPr>
            </a:pPr>
            <a:r>
              <a:t>    Optimized recall to minimize false negatives, ensuring potential chronic risks are caught early.</a:t>
            </a:r>
          </a:p>
        </p:txBody>
      </p:sp>
      <p:sp>
        <p:nvSpPr>
          <p:cNvPr id="11" name="Rounded Rectangle 10"/>
          <p:cNvSpPr/>
          <p:nvPr/>
        </p:nvSpPr>
        <p:spPr>
          <a:xfrm>
            <a:off x="4398264" y="1371600"/>
            <a:ext cx="3383280" cy="484632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1144" y="1600200"/>
            <a:ext cx="3017520"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D9488"/>
                </a:solidFill>
                <a:latin typeface="Arial"/>
              </a:defRPr>
            </a:pPr>
            <a:r>
              <a:t>SHAP EXPLAINABILITY (XAI)</a:t>
            </a:r>
          </a:p>
        </p:txBody>
      </p:sp>
      <p:sp>
        <p:nvSpPr>
          <p:cNvPr id="13" name="TextBox 12"/>
          <p:cNvSpPr txBox="1"/>
          <p:nvPr/>
        </p:nvSpPr>
        <p:spPr>
          <a:xfrm>
            <a:off x="4581144"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SHapley Additive exPlanations:</a:t>
            </a:r>
          </a:p>
          <a:p>
            <a:pPr>
              <a:spcAft>
                <a:spcPts val="800"/>
              </a:spcAft>
              <a:defRPr sz="950">
                <a:solidFill>
                  <a:srgbClr val="475569"/>
                </a:solidFill>
                <a:latin typeface="Arial"/>
              </a:defRPr>
            </a:pPr>
            <a:r>
              <a:t>    Decomposes complex machine learning prediction into transparent feature contribution scores.</a:t>
            </a:r>
          </a:p>
          <a:p>
            <a:pPr>
              <a:spcAft>
                <a:spcPts val="200"/>
              </a:spcAft>
              <a:defRPr sz="1050" b="1">
                <a:solidFill>
                  <a:srgbClr val="0F172A"/>
                </a:solidFill>
                <a:latin typeface="Arial"/>
              </a:defRPr>
            </a:pPr>
            <a:r>
              <a:t>•  Doctor-Facing Visuals:</a:t>
            </a:r>
          </a:p>
          <a:p>
            <a:pPr>
              <a:spcAft>
                <a:spcPts val="800"/>
              </a:spcAft>
              <a:defRPr sz="950">
                <a:solidFill>
                  <a:srgbClr val="475569"/>
                </a:solidFill>
                <a:latin typeface="Arial"/>
              </a:defRPr>
            </a:pPr>
            <a:r>
              <a:t>    Waterfall and bar indicators showing exactly which biometrics elevated risk (e.g. BP +24%, Age +15%).</a:t>
            </a:r>
          </a:p>
          <a:p>
            <a:pPr>
              <a:spcAft>
                <a:spcPts val="200"/>
              </a:spcAft>
              <a:defRPr sz="1050" b="1">
                <a:solidFill>
                  <a:srgbClr val="0F172A"/>
                </a:solidFill>
                <a:latin typeface="Arial"/>
              </a:defRPr>
            </a:pPr>
            <a:r>
              <a:t>•  Eliminating 'Black Box':</a:t>
            </a:r>
          </a:p>
          <a:p>
            <a:pPr>
              <a:spcAft>
                <a:spcPts val="800"/>
              </a:spcAft>
              <a:defRPr sz="950">
                <a:solidFill>
                  <a:srgbClr val="475569"/>
                </a:solidFill>
                <a:latin typeface="Arial"/>
              </a:defRPr>
            </a:pPr>
            <a:r>
              <a:t>    Provides clinicians with actionable mathematical rationale rather than ungrounded predictions.</a:t>
            </a:r>
          </a:p>
          <a:p>
            <a:pPr>
              <a:spcAft>
                <a:spcPts val="200"/>
              </a:spcAft>
              <a:defRPr sz="1050" b="1">
                <a:solidFill>
                  <a:srgbClr val="0F172A"/>
                </a:solidFill>
                <a:latin typeface="Arial"/>
              </a:defRPr>
            </a:pPr>
            <a:r>
              <a:t>•  Interactive 'What-If' Sim:</a:t>
            </a:r>
          </a:p>
          <a:p>
            <a:pPr>
              <a:spcAft>
                <a:spcPts val="800"/>
              </a:spcAft>
              <a:defRPr sz="950">
                <a:solidFill>
                  <a:srgbClr val="475569"/>
                </a:solidFill>
                <a:latin typeface="Arial"/>
              </a:defRPr>
            </a:pPr>
            <a:r>
              <a:t>    Doctor can adjust variables (e.g. lowering BP to 120) to demonstrate preventative health gains.</a:t>
            </a:r>
          </a:p>
        </p:txBody>
      </p:sp>
      <p:sp>
        <p:nvSpPr>
          <p:cNvPr id="14" name="Rounded Rectangle 13"/>
          <p:cNvSpPr/>
          <p:nvPr/>
        </p:nvSpPr>
        <p:spPr>
          <a:xfrm>
            <a:off x="8065008" y="1371600"/>
            <a:ext cx="3383280" cy="484632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47888" y="1600200"/>
            <a:ext cx="3017520" cy="384048"/>
          </a:xfrm>
          <a:prstGeom prst="roundRect">
            <a:avLst/>
          </a:prstGeom>
          <a:solidFill>
            <a:srgbClr val="FFF1F2"/>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E11D48"/>
                </a:solidFill>
                <a:latin typeface="Arial"/>
              </a:defRPr>
            </a:pPr>
            <a:r>
              <a:t>CLINICAL GUARDRAILS</a:t>
            </a:r>
          </a:p>
        </p:txBody>
      </p:sp>
      <p:sp>
        <p:nvSpPr>
          <p:cNvPr id="16" name="TextBox 15"/>
          <p:cNvSpPr txBox="1"/>
          <p:nvPr/>
        </p:nvSpPr>
        <p:spPr>
          <a:xfrm>
            <a:off x="8247888"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Strict Advisory Disclaimer:</a:t>
            </a:r>
          </a:p>
          <a:p>
            <a:pPr>
              <a:spcAft>
                <a:spcPts val="800"/>
              </a:spcAft>
              <a:defRPr sz="950">
                <a:solidFill>
                  <a:srgbClr val="475569"/>
                </a:solidFill>
                <a:latin typeface="Arial"/>
              </a:defRPr>
            </a:pPr>
            <a:r>
              <a:t>    Prominently displays: CDSS outputs are assistive recommendations, NEVER definitive diagnoses.</a:t>
            </a:r>
          </a:p>
          <a:p>
            <a:pPr>
              <a:spcAft>
                <a:spcPts val="200"/>
              </a:spcAft>
              <a:defRPr sz="1050" b="1">
                <a:solidFill>
                  <a:srgbClr val="0F172A"/>
                </a:solidFill>
                <a:latin typeface="Arial"/>
              </a:defRPr>
            </a:pPr>
            <a:r>
              <a:t>•  Human-in-the-Loop:</a:t>
            </a:r>
          </a:p>
          <a:p>
            <a:pPr>
              <a:spcAft>
                <a:spcPts val="800"/>
              </a:spcAft>
              <a:defRPr sz="950">
                <a:solidFill>
                  <a:srgbClr val="475569"/>
                </a:solidFill>
                <a:latin typeface="Arial"/>
              </a:defRPr>
            </a:pPr>
            <a:r>
              <a:t>    Only authenticated physicians can trigger and review AI outputs; predictions are never auto-finalized.</a:t>
            </a:r>
          </a:p>
          <a:p>
            <a:pPr>
              <a:spcAft>
                <a:spcPts val="200"/>
              </a:spcAft>
              <a:defRPr sz="1050" b="1">
                <a:solidFill>
                  <a:srgbClr val="0F172A"/>
                </a:solidFill>
                <a:latin typeface="Arial"/>
              </a:defRPr>
            </a:pPr>
            <a:r>
              <a:t>•  Clinician Override:</a:t>
            </a:r>
          </a:p>
          <a:p>
            <a:pPr>
              <a:spcAft>
                <a:spcPts val="800"/>
              </a:spcAft>
              <a:defRPr sz="950">
                <a:solidFill>
                  <a:srgbClr val="475569"/>
                </a:solidFill>
                <a:latin typeface="Arial"/>
              </a:defRPr>
            </a:pPr>
            <a:r>
              <a:t>    Doctors can accept, modify, or disregard AI recommendations with mandatory clinical rationale notes.</a:t>
            </a:r>
          </a:p>
          <a:p>
            <a:pPr>
              <a:spcAft>
                <a:spcPts val="200"/>
              </a:spcAft>
              <a:defRPr sz="1050" b="1">
                <a:solidFill>
                  <a:srgbClr val="0F172A"/>
                </a:solidFill>
                <a:latin typeface="Arial"/>
              </a:defRPr>
            </a:pPr>
            <a:r>
              <a:t>•  Model Audit Logging:</a:t>
            </a:r>
          </a:p>
          <a:p>
            <a:pPr>
              <a:spcAft>
                <a:spcPts val="800"/>
              </a:spcAft>
              <a:defRPr sz="950">
                <a:solidFill>
                  <a:srgbClr val="475569"/>
                </a:solidFill>
                <a:latin typeface="Arial"/>
              </a:defRPr>
            </a:pPr>
            <a:r>
              <a:t>    Every ML inference event is logged with inputs, outputs, and timestamp for clinical safety audits.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CORE MODULE 5</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Module 5: Hospital Administration, Department Operations &amp; Analytics</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7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3383280" cy="4846320"/>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600200"/>
            <a:ext cx="3017520" cy="384048"/>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59669"/>
                </a:solidFill>
                <a:latin typeface="Arial"/>
              </a:defRPr>
            </a:pPr>
            <a:r>
              <a:t>STAFF &amp; ROSTER MANAGEMENT</a:t>
            </a:r>
          </a:p>
        </p:txBody>
      </p:sp>
      <p:sp>
        <p:nvSpPr>
          <p:cNvPr id="10" name="TextBox 9"/>
          <p:cNvSpPr txBox="1"/>
          <p:nvPr/>
        </p:nvSpPr>
        <p:spPr>
          <a:xfrm>
            <a:off x="914400"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Clinician Onboarding:</a:t>
            </a:r>
          </a:p>
          <a:p>
            <a:pPr>
              <a:spcAft>
                <a:spcPts val="800"/>
              </a:spcAft>
              <a:defRPr sz="950">
                <a:solidFill>
                  <a:srgbClr val="475569"/>
                </a:solidFill>
                <a:latin typeface="Arial"/>
              </a:defRPr>
            </a:pPr>
            <a:r>
              <a:t>    Administrators verify physician credentials, medical licenses, and assign hospital departments.</a:t>
            </a:r>
          </a:p>
          <a:p>
            <a:pPr>
              <a:spcAft>
                <a:spcPts val="200"/>
              </a:spcAft>
              <a:defRPr sz="1050" b="1">
                <a:solidFill>
                  <a:srgbClr val="0F172A"/>
                </a:solidFill>
                <a:latin typeface="Arial"/>
              </a:defRPr>
            </a:pPr>
            <a:r>
              <a:t>•  Department Hierarchy:</a:t>
            </a:r>
          </a:p>
          <a:p>
            <a:pPr>
              <a:spcAft>
                <a:spcPts val="800"/>
              </a:spcAft>
              <a:defRPr sz="950">
                <a:solidFill>
                  <a:srgbClr val="475569"/>
                </a:solidFill>
                <a:latin typeface="Arial"/>
              </a:defRPr>
            </a:pPr>
            <a:r>
              <a:t>    Organize clinical units (Cardiology, Orthopedics, Pediatrics, Neurology, Emergency).</a:t>
            </a:r>
          </a:p>
          <a:p>
            <a:pPr>
              <a:spcAft>
                <a:spcPts val="200"/>
              </a:spcAft>
              <a:defRPr sz="1050" b="1">
                <a:solidFill>
                  <a:srgbClr val="0F172A"/>
                </a:solidFill>
                <a:latin typeface="Arial"/>
              </a:defRPr>
            </a:pPr>
            <a:r>
              <a:t>•  Doctor Shift Allocation:</a:t>
            </a:r>
          </a:p>
          <a:p>
            <a:pPr>
              <a:spcAft>
                <a:spcPts val="800"/>
              </a:spcAft>
              <a:defRPr sz="950">
                <a:solidFill>
                  <a:srgbClr val="475569"/>
                </a:solidFill>
                <a:latin typeface="Arial"/>
              </a:defRPr>
            </a:pPr>
            <a:r>
              <a:t>    Oversee doctor active hours, consultation room allocations, and clinic availability.</a:t>
            </a:r>
          </a:p>
          <a:p>
            <a:pPr>
              <a:spcAft>
                <a:spcPts val="200"/>
              </a:spcAft>
              <a:defRPr sz="1050" b="1">
                <a:solidFill>
                  <a:srgbClr val="0F172A"/>
                </a:solidFill>
                <a:latin typeface="Arial"/>
              </a:defRPr>
            </a:pPr>
            <a:r>
              <a:t>•  User Deactivation &amp; Edits:</a:t>
            </a:r>
          </a:p>
          <a:p>
            <a:pPr>
              <a:spcAft>
                <a:spcPts val="800"/>
              </a:spcAft>
              <a:defRPr sz="950">
                <a:solidFill>
                  <a:srgbClr val="475569"/>
                </a:solidFill>
                <a:latin typeface="Arial"/>
              </a:defRPr>
            </a:pPr>
            <a:r>
              <a:t>    Instant revocation of clinical staff accounts upon departure or department transfer.</a:t>
            </a:r>
          </a:p>
        </p:txBody>
      </p:sp>
      <p:sp>
        <p:nvSpPr>
          <p:cNvPr id="11" name="Rounded Rectangle 10"/>
          <p:cNvSpPr/>
          <p:nvPr/>
        </p:nvSpPr>
        <p:spPr>
          <a:xfrm>
            <a:off x="4398264" y="1371600"/>
            <a:ext cx="3383280" cy="484632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1144" y="1600200"/>
            <a:ext cx="3017520" cy="3840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284C7"/>
                </a:solidFill>
                <a:latin typeface="Arial"/>
              </a:defRPr>
            </a:pPr>
            <a:r>
              <a:t>OPERATIONAL ANALYTICS</a:t>
            </a:r>
          </a:p>
        </p:txBody>
      </p:sp>
      <p:sp>
        <p:nvSpPr>
          <p:cNvPr id="13" name="TextBox 12"/>
          <p:cNvSpPr txBox="1"/>
          <p:nvPr/>
        </p:nvSpPr>
        <p:spPr>
          <a:xfrm>
            <a:off x="4581144"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Patient Footfall Metrics:</a:t>
            </a:r>
          </a:p>
          <a:p>
            <a:pPr>
              <a:spcAft>
                <a:spcPts val="800"/>
              </a:spcAft>
              <a:defRPr sz="950">
                <a:solidFill>
                  <a:srgbClr val="475569"/>
                </a:solidFill>
                <a:latin typeface="Arial"/>
              </a:defRPr>
            </a:pPr>
            <a:r>
              <a:t>    Tracks daily, weekly, and monthly consultation volumes and peak arrival windows.</a:t>
            </a:r>
          </a:p>
          <a:p>
            <a:pPr>
              <a:spcAft>
                <a:spcPts val="200"/>
              </a:spcAft>
              <a:defRPr sz="1050" b="1">
                <a:solidFill>
                  <a:srgbClr val="0F172A"/>
                </a:solidFill>
                <a:latin typeface="Arial"/>
              </a:defRPr>
            </a:pPr>
            <a:r>
              <a:t>•  Department Load Factors:</a:t>
            </a:r>
          </a:p>
          <a:p>
            <a:pPr>
              <a:spcAft>
                <a:spcPts val="800"/>
              </a:spcAft>
              <a:defRPr sz="950">
                <a:solidFill>
                  <a:srgbClr val="475569"/>
                </a:solidFill>
                <a:latin typeface="Arial"/>
              </a:defRPr>
            </a:pPr>
            <a:r>
              <a:t>    Visualizes appointment distribution across departments to balance physician workloads.</a:t>
            </a:r>
          </a:p>
          <a:p>
            <a:pPr>
              <a:spcAft>
                <a:spcPts val="200"/>
              </a:spcAft>
              <a:defRPr sz="1050" b="1">
                <a:solidFill>
                  <a:srgbClr val="0F172A"/>
                </a:solidFill>
                <a:latin typeface="Arial"/>
              </a:defRPr>
            </a:pPr>
            <a:r>
              <a:t>•  Wait Time &amp; Throughput:</a:t>
            </a:r>
          </a:p>
          <a:p>
            <a:pPr>
              <a:spcAft>
                <a:spcPts val="800"/>
              </a:spcAft>
              <a:defRPr sz="950">
                <a:solidFill>
                  <a:srgbClr val="475569"/>
                </a:solidFill>
                <a:latin typeface="Arial"/>
              </a:defRPr>
            </a:pPr>
            <a:r>
              <a:t>    Monitors average wait time from check-in to consultation completion.</a:t>
            </a:r>
          </a:p>
          <a:p>
            <a:pPr>
              <a:spcAft>
                <a:spcPts val="200"/>
              </a:spcAft>
              <a:defRPr sz="1050" b="1">
                <a:solidFill>
                  <a:srgbClr val="0F172A"/>
                </a:solidFill>
                <a:latin typeface="Arial"/>
              </a:defRPr>
            </a:pPr>
            <a:r>
              <a:t>•  Cancellation Tracking:</a:t>
            </a:r>
          </a:p>
          <a:p>
            <a:pPr>
              <a:spcAft>
                <a:spcPts val="800"/>
              </a:spcAft>
              <a:defRPr sz="950">
                <a:solidFill>
                  <a:srgbClr val="475569"/>
                </a:solidFill>
                <a:latin typeface="Arial"/>
              </a:defRPr>
            </a:pPr>
            <a:r>
              <a:t>    Analyzes appointment cancellation and no-show rates to optimize hospital capacity.</a:t>
            </a:r>
          </a:p>
        </p:txBody>
      </p:sp>
      <p:sp>
        <p:nvSpPr>
          <p:cNvPr id="14" name="Rounded Rectangle 13"/>
          <p:cNvSpPr/>
          <p:nvPr/>
        </p:nvSpPr>
        <p:spPr>
          <a:xfrm>
            <a:off x="8065008" y="1371600"/>
            <a:ext cx="33832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47888" y="1600200"/>
            <a:ext cx="3017520" cy="38404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F172A"/>
                </a:solidFill>
                <a:latin typeface="Arial"/>
              </a:defRPr>
            </a:pPr>
            <a:r>
              <a:t>EXECUTIVE DASHBOARDS</a:t>
            </a:r>
          </a:p>
        </p:txBody>
      </p:sp>
      <p:sp>
        <p:nvSpPr>
          <p:cNvPr id="16" name="TextBox 15"/>
          <p:cNvSpPr txBox="1"/>
          <p:nvPr/>
        </p:nvSpPr>
        <p:spPr>
          <a:xfrm>
            <a:off x="8247888"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Interactive Visual KPIs:</a:t>
            </a:r>
          </a:p>
          <a:p>
            <a:pPr>
              <a:spcAft>
                <a:spcPts val="800"/>
              </a:spcAft>
              <a:defRPr sz="950">
                <a:solidFill>
                  <a:srgbClr val="475569"/>
                </a:solidFill>
                <a:latin typeface="Arial"/>
              </a:defRPr>
            </a:pPr>
            <a:r>
              <a:t>    Executive dashboard powered by responsive charts showing revenue, visits, and capacity.</a:t>
            </a:r>
          </a:p>
          <a:p>
            <a:pPr>
              <a:spcAft>
                <a:spcPts val="200"/>
              </a:spcAft>
              <a:defRPr sz="1050" b="1">
                <a:solidFill>
                  <a:srgbClr val="0F172A"/>
                </a:solidFill>
                <a:latin typeface="Arial"/>
              </a:defRPr>
            </a:pPr>
            <a:r>
              <a:t>•  Exportable Reports:</a:t>
            </a:r>
          </a:p>
          <a:p>
            <a:pPr>
              <a:spcAft>
                <a:spcPts val="800"/>
              </a:spcAft>
              <a:defRPr sz="950">
                <a:solidFill>
                  <a:srgbClr val="475569"/>
                </a:solidFill>
                <a:latin typeface="Arial"/>
              </a:defRPr>
            </a:pPr>
            <a:r>
              <a:t>    Generate aggregated administrative and clinical operations reports in CSV / PDF.</a:t>
            </a:r>
          </a:p>
          <a:p>
            <a:pPr>
              <a:spcAft>
                <a:spcPts val="200"/>
              </a:spcAft>
              <a:defRPr sz="1050" b="1">
                <a:solidFill>
                  <a:srgbClr val="0F172A"/>
                </a:solidFill>
                <a:latin typeface="Arial"/>
              </a:defRPr>
            </a:pPr>
            <a:r>
              <a:t>•  Resource Optimization:</a:t>
            </a:r>
          </a:p>
          <a:p>
            <a:pPr>
              <a:spcAft>
                <a:spcPts val="800"/>
              </a:spcAft>
              <a:defRPr sz="950">
                <a:solidFill>
                  <a:srgbClr val="475569"/>
                </a:solidFill>
                <a:latin typeface="Arial"/>
              </a:defRPr>
            </a:pPr>
            <a:r>
              <a:t>    Identify underutilized specialty slots and reassign consultation resources efficiently.</a:t>
            </a:r>
          </a:p>
          <a:p>
            <a:pPr>
              <a:spcAft>
                <a:spcPts val="200"/>
              </a:spcAft>
              <a:defRPr sz="1050" b="1">
                <a:solidFill>
                  <a:srgbClr val="0F172A"/>
                </a:solidFill>
                <a:latin typeface="Arial"/>
              </a:defRPr>
            </a:pPr>
            <a:r>
              <a:t>•  Hospital System Health:</a:t>
            </a:r>
          </a:p>
          <a:p>
            <a:pPr>
              <a:spcAft>
                <a:spcPts val="800"/>
              </a:spcAft>
              <a:defRPr sz="950">
                <a:solidFill>
                  <a:srgbClr val="475569"/>
                </a:solidFill>
                <a:latin typeface="Arial"/>
              </a:defRPr>
            </a:pPr>
            <a:r>
              <a:t>    Live indicators on active API latencies, active user counts, and database connection status.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CORE MODULE 6</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Module 6: Security Governance, HIPAA Compliance &amp; Immutable Audit Logging</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8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3383280" cy="484632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600200"/>
            <a:ext cx="3017520" cy="384048"/>
          </a:xfrm>
          <a:prstGeom prst="roundRect">
            <a:avLst/>
          </a:prstGeom>
          <a:solidFill>
            <a:srgbClr val="FFF1F2"/>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E11D48"/>
                </a:solidFill>
                <a:latin typeface="Arial"/>
              </a:defRPr>
            </a:pPr>
            <a:r>
              <a:t>DATA PROTECTION &amp; PRIVACY</a:t>
            </a:r>
          </a:p>
        </p:txBody>
      </p:sp>
      <p:sp>
        <p:nvSpPr>
          <p:cNvPr id="10" name="TextBox 9"/>
          <p:cNvSpPr txBox="1"/>
          <p:nvPr/>
        </p:nvSpPr>
        <p:spPr>
          <a:xfrm>
            <a:off x="914400"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Protected Health Info (PHI):</a:t>
            </a:r>
          </a:p>
          <a:p>
            <a:pPr>
              <a:spcAft>
                <a:spcPts val="800"/>
              </a:spcAft>
              <a:defRPr sz="950">
                <a:solidFill>
                  <a:srgbClr val="475569"/>
                </a:solidFill>
                <a:latin typeface="Arial"/>
              </a:defRPr>
            </a:pPr>
            <a:r>
              <a:t>    Patient clinical records, vitals, and diagnostic findings are isolated and access-restricted.</a:t>
            </a:r>
          </a:p>
          <a:p>
            <a:pPr>
              <a:spcAft>
                <a:spcPts val="200"/>
              </a:spcAft>
              <a:defRPr sz="1050" b="1">
                <a:solidFill>
                  <a:srgbClr val="0F172A"/>
                </a:solidFill>
                <a:latin typeface="Arial"/>
              </a:defRPr>
            </a:pPr>
            <a:r>
              <a:t>•  Encryption Standards:</a:t>
            </a:r>
          </a:p>
          <a:p>
            <a:pPr>
              <a:spcAft>
                <a:spcPts val="800"/>
              </a:spcAft>
              <a:defRPr sz="950">
                <a:solidFill>
                  <a:srgbClr val="475569"/>
                </a:solidFill>
                <a:latin typeface="Arial"/>
              </a:defRPr>
            </a:pPr>
            <a:r>
              <a:t>    AES-256 encryption at rest for sensitive data and mandatory TLS 1.3 encryption in transit.</a:t>
            </a:r>
          </a:p>
          <a:p>
            <a:pPr>
              <a:spcAft>
                <a:spcPts val="200"/>
              </a:spcAft>
              <a:defRPr sz="1050" b="1">
                <a:solidFill>
                  <a:srgbClr val="0F172A"/>
                </a:solidFill>
                <a:latin typeface="Arial"/>
              </a:defRPr>
            </a:pPr>
            <a:r>
              <a:t>•  Zero Data Leakage:</a:t>
            </a:r>
          </a:p>
          <a:p>
            <a:pPr>
              <a:spcAft>
                <a:spcPts val="800"/>
              </a:spcAft>
              <a:defRPr sz="950">
                <a:solidFill>
                  <a:srgbClr val="475569"/>
                </a:solidFill>
                <a:latin typeface="Arial"/>
              </a:defRPr>
            </a:pPr>
            <a:r>
              <a:t>    Strict serialization schemas prevent accidental leakage of password hashes or internal IDs in responses.</a:t>
            </a:r>
          </a:p>
          <a:p>
            <a:pPr>
              <a:spcAft>
                <a:spcPts val="200"/>
              </a:spcAft>
              <a:defRPr sz="1050" b="1">
                <a:solidFill>
                  <a:srgbClr val="0F172A"/>
                </a:solidFill>
                <a:latin typeface="Arial"/>
              </a:defRPr>
            </a:pPr>
            <a:r>
              <a:t>•  Role-Scoped Filtering:</a:t>
            </a:r>
          </a:p>
          <a:p>
            <a:pPr>
              <a:spcAft>
                <a:spcPts val="800"/>
              </a:spcAft>
              <a:defRPr sz="950">
                <a:solidFill>
                  <a:srgbClr val="475569"/>
                </a:solidFill>
                <a:latin typeface="Arial"/>
              </a:defRPr>
            </a:pPr>
            <a:r>
              <a:t>    Patients cannot query other patient records; clinicians only query patients in their clinical care.</a:t>
            </a:r>
          </a:p>
        </p:txBody>
      </p:sp>
      <p:sp>
        <p:nvSpPr>
          <p:cNvPr id="11" name="Rounded Rectangle 10"/>
          <p:cNvSpPr/>
          <p:nvPr/>
        </p:nvSpPr>
        <p:spPr>
          <a:xfrm>
            <a:off x="4398264" y="1371600"/>
            <a:ext cx="3383280" cy="484632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1144" y="1600200"/>
            <a:ext cx="3017520" cy="384048"/>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D97706"/>
                </a:solidFill>
                <a:latin typeface="Arial"/>
              </a:defRPr>
            </a:pPr>
            <a:r>
              <a:t>IMMUTABLE AUDIT LOGGING</a:t>
            </a:r>
          </a:p>
        </p:txBody>
      </p:sp>
      <p:sp>
        <p:nvSpPr>
          <p:cNvPr id="13" name="TextBox 12"/>
          <p:cNvSpPr txBox="1"/>
          <p:nvPr/>
        </p:nvSpPr>
        <p:spPr>
          <a:xfrm>
            <a:off x="4581144"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Comprehensive Event Capture:</a:t>
            </a:r>
          </a:p>
          <a:p>
            <a:pPr>
              <a:spcAft>
                <a:spcPts val="800"/>
              </a:spcAft>
              <a:defRPr sz="950">
                <a:solidFill>
                  <a:srgbClr val="475569"/>
                </a:solidFill>
                <a:latin typeface="Arial"/>
              </a:defRPr>
            </a:pPr>
            <a:r>
              <a:t>    Logs every read, write, modification, or cancellation of Protected Health Information.</a:t>
            </a:r>
          </a:p>
          <a:p>
            <a:pPr>
              <a:spcAft>
                <a:spcPts val="200"/>
              </a:spcAft>
              <a:defRPr sz="1050" b="1">
                <a:solidFill>
                  <a:srgbClr val="0F172A"/>
                </a:solidFill>
                <a:latin typeface="Arial"/>
              </a:defRPr>
            </a:pPr>
            <a:r>
              <a:t>•  Audit Metadata Schema:</a:t>
            </a:r>
          </a:p>
          <a:p>
            <a:pPr>
              <a:spcAft>
                <a:spcPts val="800"/>
              </a:spcAft>
              <a:defRPr sz="950">
                <a:solidFill>
                  <a:srgbClr val="475569"/>
                </a:solidFill>
                <a:latin typeface="Arial"/>
              </a:defRPr>
            </a:pPr>
            <a:r>
              <a:t>    Records Actor ID, Action Type (VIEW, CREATE, UPDATE, DELETE), Resource, Client IP, and Timestamp.</a:t>
            </a:r>
          </a:p>
          <a:p>
            <a:pPr>
              <a:spcAft>
                <a:spcPts val="200"/>
              </a:spcAft>
              <a:defRPr sz="1050" b="1">
                <a:solidFill>
                  <a:srgbClr val="0F172A"/>
                </a:solidFill>
                <a:latin typeface="Arial"/>
              </a:defRPr>
            </a:pPr>
            <a:r>
              <a:t>•  Append-Only Integrity:</a:t>
            </a:r>
          </a:p>
          <a:p>
            <a:pPr>
              <a:spcAft>
                <a:spcPts val="800"/>
              </a:spcAft>
              <a:defRPr sz="950">
                <a:solidFill>
                  <a:srgbClr val="475569"/>
                </a:solidFill>
                <a:latin typeface="Arial"/>
              </a:defRPr>
            </a:pPr>
            <a:r>
              <a:t>    Audit table is strictly append-only; update and delete operations are prohibited at database level.</a:t>
            </a:r>
          </a:p>
          <a:p>
            <a:pPr>
              <a:spcAft>
                <a:spcPts val="200"/>
              </a:spcAft>
              <a:defRPr sz="1050" b="1">
                <a:solidFill>
                  <a:srgbClr val="0F172A"/>
                </a:solidFill>
                <a:latin typeface="Arial"/>
              </a:defRPr>
            </a:pPr>
            <a:r>
              <a:t>•  Forensic Traceability:</a:t>
            </a:r>
          </a:p>
          <a:p>
            <a:pPr>
              <a:spcAft>
                <a:spcPts val="800"/>
              </a:spcAft>
              <a:defRPr sz="950">
                <a:solidFill>
                  <a:srgbClr val="475569"/>
                </a:solidFill>
                <a:latin typeface="Arial"/>
              </a:defRPr>
            </a:pPr>
            <a:r>
              <a:t>    Hospital compliance officers can investigate any data access anomaly with complete chronological precision.</a:t>
            </a:r>
          </a:p>
        </p:txBody>
      </p:sp>
      <p:sp>
        <p:nvSpPr>
          <p:cNvPr id="14" name="Rounded Rectangle 13"/>
          <p:cNvSpPr/>
          <p:nvPr/>
        </p:nvSpPr>
        <p:spPr>
          <a:xfrm>
            <a:off x="8065008" y="1371600"/>
            <a:ext cx="3383280" cy="484632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47888" y="1600200"/>
            <a:ext cx="3017520"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D9488"/>
                </a:solidFill>
                <a:latin typeface="Arial"/>
              </a:defRPr>
            </a:pPr>
            <a:r>
              <a:t>HIPAA REGULATORY READINESS</a:t>
            </a:r>
          </a:p>
        </p:txBody>
      </p:sp>
      <p:sp>
        <p:nvSpPr>
          <p:cNvPr id="16" name="TextBox 15"/>
          <p:cNvSpPr txBox="1"/>
          <p:nvPr/>
        </p:nvSpPr>
        <p:spPr>
          <a:xfrm>
            <a:off x="8247888"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Security Rule Compliance:</a:t>
            </a:r>
          </a:p>
          <a:p>
            <a:pPr>
              <a:spcAft>
                <a:spcPts val="800"/>
              </a:spcAft>
              <a:defRPr sz="950">
                <a:solidFill>
                  <a:srgbClr val="475569"/>
                </a:solidFill>
                <a:latin typeface="Arial"/>
              </a:defRPr>
            </a:pPr>
            <a:r>
              <a:t>    Implements technical safeguards, unique user identification, and automatic session logoff.</a:t>
            </a:r>
          </a:p>
          <a:p>
            <a:pPr>
              <a:spcAft>
                <a:spcPts val="200"/>
              </a:spcAft>
              <a:defRPr sz="1050" b="1">
                <a:solidFill>
                  <a:srgbClr val="0F172A"/>
                </a:solidFill>
                <a:latin typeface="Arial"/>
              </a:defRPr>
            </a:pPr>
            <a:r>
              <a:t>•  Privacy Rule Controls:</a:t>
            </a:r>
          </a:p>
          <a:p>
            <a:pPr>
              <a:spcAft>
                <a:spcPts val="800"/>
              </a:spcAft>
              <a:defRPr sz="950">
                <a:solidFill>
                  <a:srgbClr val="475569"/>
                </a:solidFill>
                <a:latin typeface="Arial"/>
              </a:defRPr>
            </a:pPr>
            <a:r>
              <a:t>    Enforces minimum necessary data disclosure standards across all patient interactions.</a:t>
            </a:r>
          </a:p>
          <a:p>
            <a:pPr>
              <a:spcAft>
                <a:spcPts val="200"/>
              </a:spcAft>
              <a:defRPr sz="1050" b="1">
                <a:solidFill>
                  <a:srgbClr val="0F172A"/>
                </a:solidFill>
                <a:latin typeface="Arial"/>
              </a:defRPr>
            </a:pPr>
            <a:r>
              <a:t>•  Compliance Audit Export:</a:t>
            </a:r>
          </a:p>
          <a:p>
            <a:pPr>
              <a:spcAft>
                <a:spcPts val="800"/>
              </a:spcAft>
              <a:defRPr sz="950">
                <a:solidFill>
                  <a:srgbClr val="475569"/>
                </a:solidFill>
                <a:latin typeface="Arial"/>
              </a:defRPr>
            </a:pPr>
            <a:r>
              <a:t>    Administrators can export verified compliance audit reports during regulatory reviews.</a:t>
            </a:r>
          </a:p>
          <a:p>
            <a:pPr>
              <a:spcAft>
                <a:spcPts val="200"/>
              </a:spcAft>
              <a:defRPr sz="1050" b="1">
                <a:solidFill>
                  <a:srgbClr val="0F172A"/>
                </a:solidFill>
                <a:latin typeface="Arial"/>
              </a:defRPr>
            </a:pPr>
            <a:r>
              <a:t>•  System Integrity Checks:</a:t>
            </a:r>
          </a:p>
          <a:p>
            <a:pPr>
              <a:spcAft>
                <a:spcPts val="800"/>
              </a:spcAft>
              <a:defRPr sz="950">
                <a:solidFill>
                  <a:srgbClr val="475569"/>
                </a:solidFill>
                <a:latin typeface="Arial"/>
              </a:defRPr>
            </a:pPr>
            <a:r>
              <a:t>    Continuous logging ensures high accountability and transparency across all hospital departments.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SYSTEM ARCHITECTURE</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End-to-End Technology Stack &amp; Multi-Tier Architecture</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9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10728655" cy="77724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81328"/>
            <a:ext cx="10362895" cy="548640"/>
          </a:xfrm>
          <a:prstGeom prst="rect">
            <a:avLst/>
          </a:prstGeom>
          <a:noFill/>
        </p:spPr>
        <p:txBody>
          <a:bodyPr wrap="square">
            <a:spAutoFit/>
          </a:bodyPr>
          <a:lstStyle/>
          <a:p>
            <a:pPr algn="ctr">
              <a:defRPr sz="980" b="1">
                <a:solidFill>
                  <a:srgbClr val="0F766E"/>
                </a:solidFill>
                <a:latin typeface="Consolas"/>
              </a:defRPr>
            </a:pPr>
            <a:r>
              <a:t>CLIENT TIER (React SPA)   ⇄ [RESTful JSON API] ⇄   APPLICATION TIER (FastAPI)</a:t>
            </a:r>
            <a:br/>
            <a:r>
              <a:t>                                                            ↳ [SQLAlchemy 2.0] ⇄ POSTGRESQL DB (ACID)</a:t>
            </a:r>
            <a:br/>
            <a:r>
              <a:t>                                                            ↳ [NumPy / Joblib] ⇄ SCIKIT-LEARN + SHAP ENGINE</a:t>
            </a:r>
          </a:p>
        </p:txBody>
      </p:sp>
      <p:sp>
        <p:nvSpPr>
          <p:cNvPr id="10" name="Rounded Rectangle 9"/>
          <p:cNvSpPr/>
          <p:nvPr/>
        </p:nvSpPr>
        <p:spPr>
          <a:xfrm>
            <a:off x="731520" y="2331720"/>
            <a:ext cx="2468880" cy="3749039"/>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2496312"/>
            <a:ext cx="2194560" cy="3657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D9488"/>
                </a:solidFill>
                <a:latin typeface="Arial"/>
              </a:defRPr>
            </a:pPr>
            <a:r>
              <a:t>PRESENTATION TIER</a:t>
            </a:r>
          </a:p>
        </p:txBody>
      </p:sp>
      <p:sp>
        <p:nvSpPr>
          <p:cNvPr id="12" name="TextBox 11"/>
          <p:cNvSpPr txBox="1"/>
          <p:nvPr/>
        </p:nvSpPr>
        <p:spPr>
          <a:xfrm>
            <a:off x="868680" y="2953512"/>
            <a:ext cx="2194560" cy="2926080"/>
          </a:xfrm>
          <a:prstGeom prst="rect">
            <a:avLst/>
          </a:prstGeom>
          <a:noFill/>
        </p:spPr>
        <p:txBody>
          <a:bodyPr wrap="square" lIns="0" tIns="0" rIns="0" bIns="0">
            <a:spAutoFit/>
          </a:bodyPr>
          <a:lstStyle/>
          <a:p>
            <a:pPr>
              <a:spcAft>
                <a:spcPts val="100"/>
              </a:spcAft>
              <a:defRPr sz="950" b="1">
                <a:solidFill>
                  <a:srgbClr val="0F172A"/>
                </a:solidFill>
                <a:latin typeface="Arial"/>
              </a:defRPr>
            </a:pPr>
            <a:r>
              <a:t>• React.js &amp; Vite:</a:t>
            </a:r>
          </a:p>
          <a:p>
            <a:pPr>
              <a:spcAft>
                <a:spcPts val="700"/>
              </a:spcAft>
              <a:defRPr sz="880">
                <a:solidFill>
                  <a:srgbClr val="475569"/>
                </a:solidFill>
                <a:latin typeface="Arial"/>
              </a:defRPr>
            </a:pPr>
            <a:r>
              <a:t>  Fast, modular SPA with blazing Hot Module Replacement.</a:t>
            </a:r>
          </a:p>
          <a:p>
            <a:pPr>
              <a:spcAft>
                <a:spcPts val="100"/>
              </a:spcAft>
              <a:defRPr sz="950" b="1">
                <a:solidFill>
                  <a:srgbClr val="0F172A"/>
                </a:solidFill>
                <a:latin typeface="Arial"/>
              </a:defRPr>
            </a:pPr>
            <a:r>
              <a:t>• Tailwind CSS:</a:t>
            </a:r>
          </a:p>
          <a:p>
            <a:pPr>
              <a:spcAft>
                <a:spcPts val="700"/>
              </a:spcAft>
              <a:defRPr sz="880">
                <a:solidFill>
                  <a:srgbClr val="475569"/>
                </a:solidFill>
                <a:latin typeface="Arial"/>
              </a:defRPr>
            </a:pPr>
            <a:r>
              <a:t>  Custom clinical design system with teal/slate color tokens.</a:t>
            </a:r>
          </a:p>
          <a:p>
            <a:pPr>
              <a:spcAft>
                <a:spcPts val="100"/>
              </a:spcAft>
              <a:defRPr sz="950" b="1">
                <a:solidFill>
                  <a:srgbClr val="0F172A"/>
                </a:solidFill>
                <a:latin typeface="Arial"/>
              </a:defRPr>
            </a:pPr>
            <a:r>
              <a:t>• State &amp; Context:</a:t>
            </a:r>
          </a:p>
          <a:p>
            <a:pPr>
              <a:spcAft>
                <a:spcPts val="700"/>
              </a:spcAft>
              <a:defRPr sz="880">
                <a:solidFill>
                  <a:srgbClr val="475569"/>
                </a:solidFill>
                <a:latin typeface="Arial"/>
              </a:defRPr>
            </a:pPr>
            <a:r>
              <a:t>  Global Auth, Notification, and Theme Context providers.</a:t>
            </a:r>
          </a:p>
          <a:p>
            <a:pPr>
              <a:spcAft>
                <a:spcPts val="100"/>
              </a:spcAft>
              <a:defRPr sz="950" b="1">
                <a:solidFill>
                  <a:srgbClr val="0F172A"/>
                </a:solidFill>
                <a:latin typeface="Arial"/>
              </a:defRPr>
            </a:pPr>
            <a:r>
              <a:t>• Recharts Visuals:</a:t>
            </a:r>
          </a:p>
          <a:p>
            <a:pPr>
              <a:spcAft>
                <a:spcPts val="700"/>
              </a:spcAft>
              <a:defRPr sz="880">
                <a:solidFill>
                  <a:srgbClr val="475569"/>
                </a:solidFill>
                <a:latin typeface="Arial"/>
              </a:defRPr>
            </a:pPr>
            <a:r>
              <a:t>  Interactive charts for vital tracking &amp; throughput analytics.</a:t>
            </a:r>
          </a:p>
        </p:txBody>
      </p:sp>
      <p:sp>
        <p:nvSpPr>
          <p:cNvPr id="13" name="Rounded Rectangle 12"/>
          <p:cNvSpPr/>
          <p:nvPr/>
        </p:nvSpPr>
        <p:spPr>
          <a:xfrm>
            <a:off x="3483864" y="2331720"/>
            <a:ext cx="2468880" cy="3749039"/>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21024" y="2496312"/>
            <a:ext cx="2194560" cy="365760"/>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284C7"/>
                </a:solidFill>
                <a:latin typeface="Arial"/>
              </a:defRPr>
            </a:pPr>
            <a:r>
              <a:t>APPLICATION TIER</a:t>
            </a:r>
          </a:p>
        </p:txBody>
      </p:sp>
      <p:sp>
        <p:nvSpPr>
          <p:cNvPr id="15" name="TextBox 14"/>
          <p:cNvSpPr txBox="1"/>
          <p:nvPr/>
        </p:nvSpPr>
        <p:spPr>
          <a:xfrm>
            <a:off x="3621024" y="2953512"/>
            <a:ext cx="2194560" cy="2926080"/>
          </a:xfrm>
          <a:prstGeom prst="rect">
            <a:avLst/>
          </a:prstGeom>
          <a:noFill/>
        </p:spPr>
        <p:txBody>
          <a:bodyPr wrap="square" lIns="0" tIns="0" rIns="0" bIns="0">
            <a:spAutoFit/>
          </a:bodyPr>
          <a:lstStyle/>
          <a:p>
            <a:pPr>
              <a:spcAft>
                <a:spcPts val="100"/>
              </a:spcAft>
              <a:defRPr sz="950" b="1">
                <a:solidFill>
                  <a:srgbClr val="0F172A"/>
                </a:solidFill>
                <a:latin typeface="Arial"/>
              </a:defRPr>
            </a:pPr>
            <a:r>
              <a:t>• FastAPI Engine:</a:t>
            </a:r>
          </a:p>
          <a:p>
            <a:pPr>
              <a:spcAft>
                <a:spcPts val="700"/>
              </a:spcAft>
              <a:defRPr sz="880">
                <a:solidFill>
                  <a:srgbClr val="475569"/>
                </a:solidFill>
                <a:latin typeface="Arial"/>
              </a:defRPr>
            </a:pPr>
            <a:r>
              <a:t>  Asynchronous, high-performance Python web framework.</a:t>
            </a:r>
          </a:p>
          <a:p>
            <a:pPr>
              <a:spcAft>
                <a:spcPts val="100"/>
              </a:spcAft>
              <a:defRPr sz="950" b="1">
                <a:solidFill>
                  <a:srgbClr val="0F172A"/>
                </a:solidFill>
                <a:latin typeface="Arial"/>
              </a:defRPr>
            </a:pPr>
            <a:r>
              <a:t>• Pydantic v2 Models:</a:t>
            </a:r>
          </a:p>
          <a:p>
            <a:pPr>
              <a:spcAft>
                <a:spcPts val="700"/>
              </a:spcAft>
              <a:defRPr sz="880">
                <a:solidFill>
                  <a:srgbClr val="475569"/>
                </a:solidFill>
                <a:latin typeface="Arial"/>
              </a:defRPr>
            </a:pPr>
            <a:r>
              <a:t>  Rigorous schema validation and automatic OpenAPI docs.</a:t>
            </a:r>
          </a:p>
          <a:p>
            <a:pPr>
              <a:spcAft>
                <a:spcPts val="100"/>
              </a:spcAft>
              <a:defRPr sz="950" b="1">
                <a:solidFill>
                  <a:srgbClr val="0F172A"/>
                </a:solidFill>
                <a:latin typeface="Arial"/>
              </a:defRPr>
            </a:pPr>
            <a:r>
              <a:t>• JWT &amp; Bcrypt Auth:</a:t>
            </a:r>
          </a:p>
          <a:p>
            <a:pPr>
              <a:spcAft>
                <a:spcPts val="700"/>
              </a:spcAft>
              <a:defRPr sz="880">
                <a:solidFill>
                  <a:srgbClr val="475569"/>
                </a:solidFill>
                <a:latin typeface="Arial"/>
              </a:defRPr>
            </a:pPr>
            <a:r>
              <a:t>  Stateless bearer token authentication and RBAC guards.</a:t>
            </a:r>
          </a:p>
          <a:p>
            <a:pPr>
              <a:spcAft>
                <a:spcPts val="100"/>
              </a:spcAft>
              <a:defRPr sz="950" b="1">
                <a:solidFill>
                  <a:srgbClr val="0F172A"/>
                </a:solidFill>
                <a:latin typeface="Arial"/>
              </a:defRPr>
            </a:pPr>
            <a:r>
              <a:t>• Modular Routers:</a:t>
            </a:r>
          </a:p>
          <a:p>
            <a:pPr>
              <a:spcAft>
                <a:spcPts val="700"/>
              </a:spcAft>
              <a:defRPr sz="880">
                <a:solidFill>
                  <a:srgbClr val="475569"/>
                </a:solidFill>
                <a:latin typeface="Arial"/>
              </a:defRPr>
            </a:pPr>
            <a:r>
              <a:t>  Dedicated routers for Auth, Appointments, EMR, CDSS, Admin.</a:t>
            </a:r>
          </a:p>
        </p:txBody>
      </p:sp>
      <p:sp>
        <p:nvSpPr>
          <p:cNvPr id="16" name="Rounded Rectangle 15"/>
          <p:cNvSpPr/>
          <p:nvPr/>
        </p:nvSpPr>
        <p:spPr>
          <a:xfrm>
            <a:off x="6236208" y="2331720"/>
            <a:ext cx="2468880" cy="374903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73368" y="2496312"/>
            <a:ext cx="2194560" cy="3657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F172A"/>
                </a:solidFill>
                <a:latin typeface="Arial"/>
              </a:defRPr>
            </a:pPr>
            <a:r>
              <a:t>PERSISTENCE TIER</a:t>
            </a:r>
          </a:p>
        </p:txBody>
      </p:sp>
      <p:sp>
        <p:nvSpPr>
          <p:cNvPr id="18" name="TextBox 17"/>
          <p:cNvSpPr txBox="1"/>
          <p:nvPr/>
        </p:nvSpPr>
        <p:spPr>
          <a:xfrm>
            <a:off x="6373368" y="2953512"/>
            <a:ext cx="2194560" cy="2926080"/>
          </a:xfrm>
          <a:prstGeom prst="rect">
            <a:avLst/>
          </a:prstGeom>
          <a:noFill/>
        </p:spPr>
        <p:txBody>
          <a:bodyPr wrap="square" lIns="0" tIns="0" rIns="0" bIns="0">
            <a:spAutoFit/>
          </a:bodyPr>
          <a:lstStyle/>
          <a:p>
            <a:pPr>
              <a:spcAft>
                <a:spcPts val="100"/>
              </a:spcAft>
              <a:defRPr sz="950" b="1">
                <a:solidFill>
                  <a:srgbClr val="0F172A"/>
                </a:solidFill>
                <a:latin typeface="Arial"/>
              </a:defRPr>
            </a:pPr>
            <a:r>
              <a:t>• PostgreSQL 15+:</a:t>
            </a:r>
          </a:p>
          <a:p>
            <a:pPr>
              <a:spcAft>
                <a:spcPts val="700"/>
              </a:spcAft>
              <a:defRPr sz="880">
                <a:solidFill>
                  <a:srgbClr val="475569"/>
                </a:solidFill>
                <a:latin typeface="Arial"/>
              </a:defRPr>
            </a:pPr>
            <a:r>
              <a:t>  Relational database with strict ACID transaction guarantees.</a:t>
            </a:r>
          </a:p>
          <a:p>
            <a:pPr>
              <a:spcAft>
                <a:spcPts val="100"/>
              </a:spcAft>
              <a:defRPr sz="950" b="1">
                <a:solidFill>
                  <a:srgbClr val="0F172A"/>
                </a:solidFill>
                <a:latin typeface="Arial"/>
              </a:defRPr>
            </a:pPr>
            <a:r>
              <a:t>• SQLAlchemy 2.0 ORM:</a:t>
            </a:r>
          </a:p>
          <a:p>
            <a:pPr>
              <a:spcAft>
                <a:spcPts val="700"/>
              </a:spcAft>
              <a:defRPr sz="880">
                <a:solidFill>
                  <a:srgbClr val="475569"/>
                </a:solidFill>
                <a:latin typeface="Arial"/>
              </a:defRPr>
            </a:pPr>
            <a:r>
              <a:t>  Type-safe database models with relational cascades.</a:t>
            </a:r>
          </a:p>
          <a:p>
            <a:pPr>
              <a:spcAft>
                <a:spcPts val="100"/>
              </a:spcAft>
              <a:defRPr sz="950" b="1">
                <a:solidFill>
                  <a:srgbClr val="0F172A"/>
                </a:solidFill>
                <a:latin typeface="Arial"/>
              </a:defRPr>
            </a:pPr>
            <a:r>
              <a:t>• Alembic Migrations:</a:t>
            </a:r>
          </a:p>
          <a:p>
            <a:pPr>
              <a:spcAft>
                <a:spcPts val="700"/>
              </a:spcAft>
              <a:defRPr sz="880">
                <a:solidFill>
                  <a:srgbClr val="475569"/>
                </a:solidFill>
                <a:latin typeface="Arial"/>
              </a:defRPr>
            </a:pPr>
            <a:r>
              <a:t>  Automated version control for evolving database schemas.</a:t>
            </a:r>
          </a:p>
          <a:p>
            <a:pPr>
              <a:spcAft>
                <a:spcPts val="100"/>
              </a:spcAft>
              <a:defRPr sz="950" b="1">
                <a:solidFill>
                  <a:srgbClr val="0F172A"/>
                </a:solidFill>
                <a:latin typeface="Arial"/>
              </a:defRPr>
            </a:pPr>
            <a:r>
              <a:t>• Data Integrity:</a:t>
            </a:r>
          </a:p>
          <a:p>
            <a:pPr>
              <a:spcAft>
                <a:spcPts val="700"/>
              </a:spcAft>
              <a:defRPr sz="880">
                <a:solidFill>
                  <a:srgbClr val="475569"/>
                </a:solidFill>
                <a:latin typeface="Arial"/>
              </a:defRPr>
            </a:pPr>
            <a:r>
              <a:t>  Foreign key constraints and unique composite indexes.</a:t>
            </a:r>
          </a:p>
        </p:txBody>
      </p:sp>
      <p:sp>
        <p:nvSpPr>
          <p:cNvPr id="19" name="Rounded Rectangle 18"/>
          <p:cNvSpPr/>
          <p:nvPr/>
        </p:nvSpPr>
        <p:spPr>
          <a:xfrm>
            <a:off x="8988552" y="2331720"/>
            <a:ext cx="2468880" cy="3749039"/>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2496312"/>
            <a:ext cx="2194560" cy="365760"/>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D97706"/>
                </a:solidFill>
                <a:latin typeface="Arial"/>
              </a:defRPr>
            </a:pPr>
            <a:r>
              <a:t>DECISION-SUPPORT TIER</a:t>
            </a:r>
          </a:p>
        </p:txBody>
      </p:sp>
      <p:sp>
        <p:nvSpPr>
          <p:cNvPr id="21" name="TextBox 20"/>
          <p:cNvSpPr txBox="1"/>
          <p:nvPr/>
        </p:nvSpPr>
        <p:spPr>
          <a:xfrm>
            <a:off x="9125712" y="2953512"/>
            <a:ext cx="2194560" cy="2926080"/>
          </a:xfrm>
          <a:prstGeom prst="rect">
            <a:avLst/>
          </a:prstGeom>
          <a:noFill/>
        </p:spPr>
        <p:txBody>
          <a:bodyPr wrap="square" lIns="0" tIns="0" rIns="0" bIns="0">
            <a:spAutoFit/>
          </a:bodyPr>
          <a:lstStyle/>
          <a:p>
            <a:pPr>
              <a:spcAft>
                <a:spcPts val="100"/>
              </a:spcAft>
              <a:defRPr sz="950" b="1">
                <a:solidFill>
                  <a:srgbClr val="0F172A"/>
                </a:solidFill>
                <a:latin typeface="Arial"/>
              </a:defRPr>
            </a:pPr>
            <a:r>
              <a:t>• Scikit-Learn ML:</a:t>
            </a:r>
          </a:p>
          <a:p>
            <a:pPr>
              <a:spcAft>
                <a:spcPts val="700"/>
              </a:spcAft>
              <a:defRPr sz="880">
                <a:solidFill>
                  <a:srgbClr val="475569"/>
                </a:solidFill>
                <a:latin typeface="Arial"/>
              </a:defRPr>
            </a:pPr>
            <a:r>
              <a:t>  Ensemble classifiers trained on clinical biometrics.</a:t>
            </a:r>
          </a:p>
          <a:p>
            <a:pPr>
              <a:spcAft>
                <a:spcPts val="100"/>
              </a:spcAft>
              <a:defRPr sz="950" b="1">
                <a:solidFill>
                  <a:srgbClr val="0F172A"/>
                </a:solidFill>
                <a:latin typeface="Arial"/>
              </a:defRPr>
            </a:pPr>
            <a:r>
              <a:t>• SHAP Explainability:</a:t>
            </a:r>
          </a:p>
          <a:p>
            <a:pPr>
              <a:spcAft>
                <a:spcPts val="700"/>
              </a:spcAft>
              <a:defRPr sz="880">
                <a:solidFill>
                  <a:srgbClr val="475569"/>
                </a:solidFill>
                <a:latin typeface="Arial"/>
              </a:defRPr>
            </a:pPr>
            <a:r>
              <a:t>  Mathematical feature attribution for transparent risk scores.</a:t>
            </a:r>
          </a:p>
          <a:p>
            <a:pPr>
              <a:spcAft>
                <a:spcPts val="100"/>
              </a:spcAft>
              <a:defRPr sz="950" b="1">
                <a:solidFill>
                  <a:srgbClr val="0F172A"/>
                </a:solidFill>
                <a:latin typeface="Arial"/>
              </a:defRPr>
            </a:pPr>
            <a:r>
              <a:t>• NumPy &amp; Pandas:</a:t>
            </a:r>
          </a:p>
          <a:p>
            <a:pPr>
              <a:spcAft>
                <a:spcPts val="700"/>
              </a:spcAft>
              <a:defRPr sz="880">
                <a:solidFill>
                  <a:srgbClr val="475569"/>
                </a:solidFill>
                <a:latin typeface="Arial"/>
              </a:defRPr>
            </a:pPr>
            <a:r>
              <a:t>  High-speed data vectorization and preprocessing.</a:t>
            </a:r>
          </a:p>
          <a:p>
            <a:pPr>
              <a:spcAft>
                <a:spcPts val="100"/>
              </a:spcAft>
              <a:defRPr sz="950" b="1">
                <a:solidFill>
                  <a:srgbClr val="0F172A"/>
                </a:solidFill>
                <a:latin typeface="Arial"/>
              </a:defRPr>
            </a:pPr>
            <a:r>
              <a:t>• Simulated Analytics:</a:t>
            </a:r>
          </a:p>
          <a:p>
            <a:pPr>
              <a:spcAft>
                <a:spcPts val="700"/>
              </a:spcAft>
              <a:defRPr sz="880">
                <a:solidFill>
                  <a:srgbClr val="475569"/>
                </a:solidFill>
                <a:latin typeface="Arial"/>
              </a:defRPr>
            </a:pPr>
            <a:r>
              <a:t>  Real-time 'What-If' sensitivity inference service.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SYSTEM WORKFLOW</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End-to-End Inter-Module Workflow &amp; Operational Lifecycle</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10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2468880" cy="484632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554480"/>
            <a:ext cx="2194560"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D9488"/>
                </a:solidFill>
                <a:latin typeface="Arial"/>
              </a:defRPr>
            </a:pPr>
            <a:r>
              <a:t>PHASE 1: ACCESS &amp; ONBOARDING</a:t>
            </a:r>
          </a:p>
        </p:txBody>
      </p:sp>
      <p:sp>
        <p:nvSpPr>
          <p:cNvPr id="10" name="TextBox 9"/>
          <p:cNvSpPr txBox="1"/>
          <p:nvPr/>
        </p:nvSpPr>
        <p:spPr>
          <a:xfrm>
            <a:off x="868680" y="2103120"/>
            <a:ext cx="2194560" cy="3749039"/>
          </a:xfrm>
          <a:prstGeom prst="rect">
            <a:avLst/>
          </a:prstGeom>
          <a:noFill/>
        </p:spPr>
        <p:txBody>
          <a:bodyPr wrap="square" lIns="0" tIns="0" rIns="0" bIns="0">
            <a:spAutoFit/>
          </a:bodyPr>
          <a:lstStyle/>
          <a:p>
            <a:pPr>
              <a:spcAft>
                <a:spcPts val="200"/>
              </a:spcAft>
              <a:defRPr sz="1000" b="1">
                <a:solidFill>
                  <a:srgbClr val="0F172A"/>
                </a:solidFill>
                <a:latin typeface="Arial"/>
              </a:defRPr>
            </a:pPr>
            <a:r>
              <a:t>1. User Registration:</a:t>
            </a:r>
          </a:p>
          <a:p>
            <a:pPr>
              <a:spcAft>
                <a:spcPts val="1000"/>
              </a:spcAft>
              <a:defRPr sz="919">
                <a:solidFill>
                  <a:srgbClr val="475569"/>
                </a:solidFill>
                <a:latin typeface="Arial"/>
              </a:defRPr>
            </a:pPr>
            <a:r>
              <a:t>    Module 1 validates credentials, hashes password with Bcrypt, assigns role.</a:t>
            </a:r>
          </a:p>
          <a:p>
            <a:pPr>
              <a:spcAft>
                <a:spcPts val="200"/>
              </a:spcAft>
              <a:defRPr sz="1000" b="1">
                <a:solidFill>
                  <a:srgbClr val="0F172A"/>
                </a:solidFill>
                <a:latin typeface="Arial"/>
              </a:defRPr>
            </a:pPr>
            <a:r>
              <a:t>2. Doctor Shift Setup:</a:t>
            </a:r>
          </a:p>
          <a:p>
            <a:pPr>
              <a:spcAft>
                <a:spcPts val="1000"/>
              </a:spcAft>
              <a:defRPr sz="919">
                <a:solidFill>
                  <a:srgbClr val="475569"/>
                </a:solidFill>
                <a:latin typeface="Arial"/>
              </a:defRPr>
            </a:pPr>
            <a:r>
              <a:t>    Module 2 generates open 30-min booking slots according to doctor's weekly roster.</a:t>
            </a:r>
          </a:p>
          <a:p>
            <a:pPr>
              <a:spcAft>
                <a:spcPts val="200"/>
              </a:spcAft>
              <a:defRPr sz="1000" b="1">
                <a:solidFill>
                  <a:srgbClr val="0F172A"/>
                </a:solidFill>
                <a:latin typeface="Arial"/>
              </a:defRPr>
            </a:pPr>
            <a:r>
              <a:t>3. Roster Authorization:</a:t>
            </a:r>
          </a:p>
          <a:p>
            <a:pPr>
              <a:spcAft>
                <a:spcPts val="1000"/>
              </a:spcAft>
              <a:defRPr sz="919">
                <a:solidFill>
                  <a:srgbClr val="475569"/>
                </a:solidFill>
                <a:latin typeface="Arial"/>
              </a:defRPr>
            </a:pPr>
            <a:r>
              <a:t>    Module 5 administrator verifies credentials and approves department access.</a:t>
            </a:r>
          </a:p>
        </p:txBody>
      </p:sp>
      <p:sp>
        <p:nvSpPr>
          <p:cNvPr id="11" name="Rounded Rectangle 10"/>
          <p:cNvSpPr/>
          <p:nvPr/>
        </p:nvSpPr>
        <p:spPr>
          <a:xfrm>
            <a:off x="3483864" y="1371600"/>
            <a:ext cx="2468880" cy="484632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21024" y="1554480"/>
            <a:ext cx="2194560" cy="3840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284C7"/>
                </a:solidFill>
                <a:latin typeface="Arial"/>
              </a:defRPr>
            </a:pPr>
            <a:r>
              <a:t>PHASE 2: APPOINTMENT LIFECYCLE</a:t>
            </a:r>
          </a:p>
        </p:txBody>
      </p:sp>
      <p:sp>
        <p:nvSpPr>
          <p:cNvPr id="13" name="TextBox 12"/>
          <p:cNvSpPr txBox="1"/>
          <p:nvPr/>
        </p:nvSpPr>
        <p:spPr>
          <a:xfrm>
            <a:off x="3621024" y="2103120"/>
            <a:ext cx="2194560" cy="3749039"/>
          </a:xfrm>
          <a:prstGeom prst="rect">
            <a:avLst/>
          </a:prstGeom>
          <a:noFill/>
        </p:spPr>
        <p:txBody>
          <a:bodyPr wrap="square" lIns="0" tIns="0" rIns="0" bIns="0">
            <a:spAutoFit/>
          </a:bodyPr>
          <a:lstStyle/>
          <a:p>
            <a:pPr>
              <a:spcAft>
                <a:spcPts val="200"/>
              </a:spcAft>
              <a:defRPr sz="1000" b="1">
                <a:solidFill>
                  <a:srgbClr val="0F172A"/>
                </a:solidFill>
                <a:latin typeface="Arial"/>
              </a:defRPr>
            </a:pPr>
            <a:r>
              <a:t>1. Department Search:</a:t>
            </a:r>
          </a:p>
          <a:p>
            <a:pPr>
              <a:spcAft>
                <a:spcPts val="1000"/>
              </a:spcAft>
              <a:defRPr sz="919">
                <a:solidFill>
                  <a:srgbClr val="475569"/>
                </a:solidFill>
                <a:latin typeface="Arial"/>
              </a:defRPr>
            </a:pPr>
            <a:r>
              <a:t>    Patient searches doctors by specialty, selects date and available slot.</a:t>
            </a:r>
          </a:p>
          <a:p>
            <a:pPr>
              <a:spcAft>
                <a:spcPts val="200"/>
              </a:spcAft>
              <a:defRPr sz="1000" b="1">
                <a:solidFill>
                  <a:srgbClr val="0F172A"/>
                </a:solidFill>
                <a:latin typeface="Arial"/>
              </a:defRPr>
            </a:pPr>
            <a:r>
              <a:t>2. Transactional Booking:</a:t>
            </a:r>
          </a:p>
          <a:p>
            <a:pPr>
              <a:spcAft>
                <a:spcPts val="1000"/>
              </a:spcAft>
              <a:defRPr sz="919">
                <a:solidFill>
                  <a:srgbClr val="475569"/>
                </a:solidFill>
                <a:latin typeface="Arial"/>
              </a:defRPr>
            </a:pPr>
            <a:r>
              <a:t>    Module 2 locks slot in PostgreSQL, updates status to SCHEDULED.</a:t>
            </a:r>
          </a:p>
          <a:p>
            <a:pPr>
              <a:spcAft>
                <a:spcPts val="200"/>
              </a:spcAft>
              <a:defRPr sz="1000" b="1">
                <a:solidFill>
                  <a:srgbClr val="0F172A"/>
                </a:solidFill>
                <a:latin typeface="Arial"/>
              </a:defRPr>
            </a:pPr>
            <a:r>
              <a:t>3. Queue Check-In:</a:t>
            </a:r>
          </a:p>
          <a:p>
            <a:pPr>
              <a:spcAft>
                <a:spcPts val="1000"/>
              </a:spcAft>
              <a:defRPr sz="919">
                <a:solidFill>
                  <a:srgbClr val="475569"/>
                </a:solidFill>
                <a:latin typeface="Arial"/>
              </a:defRPr>
            </a:pPr>
            <a:r>
              <a:t>    Patient arrives; doctor marks status as IN_PROGRESS in clinical cockpit.</a:t>
            </a:r>
          </a:p>
        </p:txBody>
      </p:sp>
      <p:sp>
        <p:nvSpPr>
          <p:cNvPr id="14" name="Rounded Rectangle 13"/>
          <p:cNvSpPr/>
          <p:nvPr/>
        </p:nvSpPr>
        <p:spPr>
          <a:xfrm>
            <a:off x="6236208" y="1371600"/>
            <a:ext cx="2468880" cy="4846320"/>
          </a:xfrm>
          <a:prstGeom prst="roundRect">
            <a:avLst/>
          </a:prstGeom>
          <a:solidFill>
            <a:srgbClr val="FFFFFF"/>
          </a:solidFill>
          <a:ln w="1524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73368" y="1554480"/>
            <a:ext cx="2194560" cy="384048"/>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7E22CE"/>
                </a:solidFill>
                <a:latin typeface="Arial"/>
              </a:defRPr>
            </a:pPr>
            <a:r>
              <a:t>PHASE 3: CLINICAL CONSULTATION</a:t>
            </a:r>
          </a:p>
        </p:txBody>
      </p:sp>
      <p:sp>
        <p:nvSpPr>
          <p:cNvPr id="16" name="TextBox 15"/>
          <p:cNvSpPr txBox="1"/>
          <p:nvPr/>
        </p:nvSpPr>
        <p:spPr>
          <a:xfrm>
            <a:off x="6373368" y="2103120"/>
            <a:ext cx="2194560" cy="3749039"/>
          </a:xfrm>
          <a:prstGeom prst="rect">
            <a:avLst/>
          </a:prstGeom>
          <a:noFill/>
        </p:spPr>
        <p:txBody>
          <a:bodyPr wrap="square" lIns="0" tIns="0" rIns="0" bIns="0">
            <a:spAutoFit/>
          </a:bodyPr>
          <a:lstStyle/>
          <a:p>
            <a:pPr>
              <a:spcAft>
                <a:spcPts val="200"/>
              </a:spcAft>
              <a:defRPr sz="1000" b="1">
                <a:solidFill>
                  <a:srgbClr val="0F172A"/>
                </a:solidFill>
                <a:latin typeface="Arial"/>
              </a:defRPr>
            </a:pPr>
            <a:r>
              <a:t>1. Biometrics Capture:</a:t>
            </a:r>
          </a:p>
          <a:p>
            <a:pPr>
              <a:spcAft>
                <a:spcPts val="1000"/>
              </a:spcAft>
              <a:defRPr sz="919">
                <a:solidFill>
                  <a:srgbClr val="475569"/>
                </a:solidFill>
                <a:latin typeface="Arial"/>
              </a:defRPr>
            </a:pPr>
            <a:r>
              <a:t>    Doctor inputs patient vitals (BP, glucose, heart rate) into Module 3 EMR.</a:t>
            </a:r>
          </a:p>
          <a:p>
            <a:pPr>
              <a:spcAft>
                <a:spcPts val="200"/>
              </a:spcAft>
              <a:defRPr sz="1000" b="1">
                <a:solidFill>
                  <a:srgbClr val="0F172A"/>
                </a:solidFill>
                <a:latin typeface="Arial"/>
              </a:defRPr>
            </a:pPr>
            <a:r>
              <a:t>2. Explainable CDSS:</a:t>
            </a:r>
          </a:p>
          <a:p>
            <a:pPr>
              <a:spcAft>
                <a:spcPts val="1000"/>
              </a:spcAft>
              <a:defRPr sz="919">
                <a:solidFill>
                  <a:srgbClr val="475569"/>
                </a:solidFill>
                <a:latin typeface="Arial"/>
              </a:defRPr>
            </a:pPr>
            <a:r>
              <a:t>    Module 4 calculates risk score and displays SHAP attribution factors.</a:t>
            </a:r>
          </a:p>
          <a:p>
            <a:pPr>
              <a:spcAft>
                <a:spcPts val="200"/>
              </a:spcAft>
              <a:defRPr sz="1000" b="1">
                <a:solidFill>
                  <a:srgbClr val="0F172A"/>
                </a:solidFill>
                <a:latin typeface="Arial"/>
              </a:defRPr>
            </a:pPr>
            <a:r>
              <a:t>3. Digital Prescription:</a:t>
            </a:r>
          </a:p>
          <a:p>
            <a:pPr>
              <a:spcAft>
                <a:spcPts val="1000"/>
              </a:spcAft>
              <a:defRPr sz="919">
                <a:solidFill>
                  <a:srgbClr val="475569"/>
                </a:solidFill>
                <a:latin typeface="Arial"/>
              </a:defRPr>
            </a:pPr>
            <a:r>
              <a:t>    Doctor generates itemized prescription with dosage, frequency, and instructions.</a:t>
            </a:r>
          </a:p>
        </p:txBody>
      </p:sp>
      <p:sp>
        <p:nvSpPr>
          <p:cNvPr id="17" name="Rounded Rectangle 16"/>
          <p:cNvSpPr/>
          <p:nvPr/>
        </p:nvSpPr>
        <p:spPr>
          <a:xfrm>
            <a:off x="8988552" y="1371600"/>
            <a:ext cx="2468880" cy="484632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25712" y="1554480"/>
            <a:ext cx="2194560" cy="384048"/>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D97706"/>
                </a:solidFill>
                <a:latin typeface="Arial"/>
              </a:defRPr>
            </a:pPr>
            <a:r>
              <a:t>PHASE 4: AUDIT &amp; INTELLIGENCE</a:t>
            </a:r>
          </a:p>
        </p:txBody>
      </p:sp>
      <p:sp>
        <p:nvSpPr>
          <p:cNvPr id="19" name="TextBox 18"/>
          <p:cNvSpPr txBox="1"/>
          <p:nvPr/>
        </p:nvSpPr>
        <p:spPr>
          <a:xfrm>
            <a:off x="9125712" y="2103120"/>
            <a:ext cx="2194560" cy="3749039"/>
          </a:xfrm>
          <a:prstGeom prst="rect">
            <a:avLst/>
          </a:prstGeom>
          <a:noFill/>
        </p:spPr>
        <p:txBody>
          <a:bodyPr wrap="square" lIns="0" tIns="0" rIns="0" bIns="0">
            <a:spAutoFit/>
          </a:bodyPr>
          <a:lstStyle/>
          <a:p>
            <a:pPr>
              <a:spcAft>
                <a:spcPts val="200"/>
              </a:spcAft>
              <a:defRPr sz="1000" b="1">
                <a:solidFill>
                  <a:srgbClr val="0F172A"/>
                </a:solidFill>
                <a:latin typeface="Arial"/>
              </a:defRPr>
            </a:pPr>
            <a:r>
              <a:t>1. Audit Logging:</a:t>
            </a:r>
          </a:p>
          <a:p>
            <a:pPr>
              <a:spcAft>
                <a:spcPts val="1000"/>
              </a:spcAft>
              <a:defRPr sz="919">
                <a:solidFill>
                  <a:srgbClr val="475569"/>
                </a:solidFill>
                <a:latin typeface="Arial"/>
              </a:defRPr>
            </a:pPr>
            <a:r>
              <a:t>    Module 6 logs all record views, consultation edits, and prescriptions immutably.</a:t>
            </a:r>
          </a:p>
          <a:p>
            <a:pPr>
              <a:spcAft>
                <a:spcPts val="200"/>
              </a:spcAft>
              <a:defRPr sz="1000" b="1">
                <a:solidFill>
                  <a:srgbClr val="0F172A"/>
                </a:solidFill>
                <a:latin typeface="Arial"/>
              </a:defRPr>
            </a:pPr>
            <a:r>
              <a:t>2. Patient Access:</a:t>
            </a:r>
          </a:p>
          <a:p>
            <a:pPr>
              <a:spcAft>
                <a:spcPts val="1000"/>
              </a:spcAft>
              <a:defRPr sz="919">
                <a:solidFill>
                  <a:srgbClr val="475569"/>
                </a:solidFill>
                <a:latin typeface="Arial"/>
              </a:defRPr>
            </a:pPr>
            <a:r>
              <a:t>    Patient views consultation notes and downloads digital Rx from timeline.</a:t>
            </a:r>
          </a:p>
          <a:p>
            <a:pPr>
              <a:spcAft>
                <a:spcPts val="200"/>
              </a:spcAft>
              <a:defRPr sz="1000" b="1">
                <a:solidFill>
                  <a:srgbClr val="0F172A"/>
                </a:solidFill>
                <a:latin typeface="Arial"/>
              </a:defRPr>
            </a:pPr>
            <a:r>
              <a:t>3. Hospital Analytics:</a:t>
            </a:r>
          </a:p>
          <a:p>
            <a:pPr>
              <a:spcAft>
                <a:spcPts val="1000"/>
              </a:spcAft>
              <a:defRPr sz="919">
                <a:solidFill>
                  <a:srgbClr val="475569"/>
                </a:solidFill>
                <a:latin typeface="Arial"/>
              </a:defRPr>
            </a:pPr>
            <a:r>
              <a:t>    Module 5 updates daily patient volume, wait times, and department throughput.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VALUE &amp; IMPACT</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Clinical Impact, Performance Benchmarks &amp; Hospital ROI</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11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3383280" cy="484632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600200"/>
            <a:ext cx="3017520"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D9488"/>
                </a:solidFill>
                <a:latin typeface="Arial"/>
              </a:defRPr>
            </a:pPr>
            <a:r>
              <a:t>OPERATIONAL EFFICIENCY</a:t>
            </a:r>
          </a:p>
        </p:txBody>
      </p:sp>
      <p:sp>
        <p:nvSpPr>
          <p:cNvPr id="10" name="TextBox 9"/>
          <p:cNvSpPr txBox="1"/>
          <p:nvPr/>
        </p:nvSpPr>
        <p:spPr>
          <a:xfrm>
            <a:off x="914400"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60% Less Paperwork:</a:t>
            </a:r>
          </a:p>
          <a:p>
            <a:pPr>
              <a:spcAft>
                <a:spcPts val="800"/>
              </a:spcAft>
              <a:defRPr sz="950">
                <a:solidFill>
                  <a:srgbClr val="475569"/>
                </a:solidFill>
                <a:latin typeface="Arial"/>
              </a:defRPr>
            </a:pPr>
            <a:r>
              <a:t>    Eliminates physical prescription slips and manual appointment registers entirely.</a:t>
            </a:r>
          </a:p>
          <a:p>
            <a:pPr>
              <a:spcAft>
                <a:spcPts val="200"/>
              </a:spcAft>
              <a:defRPr sz="1050" b="1">
                <a:solidFill>
                  <a:srgbClr val="0F172A"/>
                </a:solidFill>
                <a:latin typeface="Arial"/>
              </a:defRPr>
            </a:pPr>
            <a:r>
              <a:t>✓  Zero Double-Booking:</a:t>
            </a:r>
          </a:p>
          <a:p>
            <a:pPr>
              <a:spcAft>
                <a:spcPts val="800"/>
              </a:spcAft>
              <a:defRPr sz="950">
                <a:solidFill>
                  <a:srgbClr val="475569"/>
                </a:solidFill>
                <a:latin typeface="Arial"/>
              </a:defRPr>
            </a:pPr>
            <a:r>
              <a:t>    ACID transactional locks eliminate conflicting patient appointments completely.</a:t>
            </a:r>
          </a:p>
          <a:p>
            <a:pPr>
              <a:spcAft>
                <a:spcPts val="200"/>
              </a:spcAft>
              <a:defRPr sz="1050" b="1">
                <a:solidFill>
                  <a:srgbClr val="0F172A"/>
                </a:solidFill>
                <a:latin typeface="Arial"/>
              </a:defRPr>
            </a:pPr>
            <a:r>
              <a:t>✓  40% Faster Check-In:</a:t>
            </a:r>
          </a:p>
          <a:p>
            <a:pPr>
              <a:spcAft>
                <a:spcPts val="800"/>
              </a:spcAft>
              <a:defRPr sz="950">
                <a:solidFill>
                  <a:srgbClr val="475569"/>
                </a:solidFill>
                <a:latin typeface="Arial"/>
              </a:defRPr>
            </a:pPr>
            <a:r>
              <a:t>    Self-service online booking reduces reception desk queues significantly.</a:t>
            </a:r>
          </a:p>
          <a:p>
            <a:pPr>
              <a:spcAft>
                <a:spcPts val="200"/>
              </a:spcAft>
              <a:defRPr sz="1050" b="1">
                <a:solidFill>
                  <a:srgbClr val="0F172A"/>
                </a:solidFill>
                <a:latin typeface="Arial"/>
              </a:defRPr>
            </a:pPr>
            <a:r>
              <a:t>✓  Automated Hand-offs:</a:t>
            </a:r>
          </a:p>
          <a:p>
            <a:pPr>
              <a:spcAft>
                <a:spcPts val="800"/>
              </a:spcAft>
              <a:defRPr sz="950">
                <a:solidFill>
                  <a:srgbClr val="475569"/>
                </a:solidFill>
                <a:latin typeface="Arial"/>
              </a:defRPr>
            </a:pPr>
            <a:r>
              <a:t>    Immediate transmission of digital consultation notes between departments.</a:t>
            </a:r>
          </a:p>
        </p:txBody>
      </p:sp>
      <p:sp>
        <p:nvSpPr>
          <p:cNvPr id="11" name="Rounded Rectangle 10"/>
          <p:cNvSpPr/>
          <p:nvPr/>
        </p:nvSpPr>
        <p:spPr>
          <a:xfrm>
            <a:off x="4398264" y="1371600"/>
            <a:ext cx="3383280" cy="484632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1144" y="1600200"/>
            <a:ext cx="3017520" cy="3840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284C7"/>
                </a:solidFill>
                <a:latin typeface="Arial"/>
              </a:defRPr>
            </a:pPr>
            <a:r>
              <a:t>CLINICAL DECISION AID</a:t>
            </a:r>
          </a:p>
        </p:txBody>
      </p:sp>
      <p:sp>
        <p:nvSpPr>
          <p:cNvPr id="13" name="TextBox 12"/>
          <p:cNvSpPr txBox="1"/>
          <p:nvPr/>
        </p:nvSpPr>
        <p:spPr>
          <a:xfrm>
            <a:off x="4581144"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Early Triage Detection:</a:t>
            </a:r>
          </a:p>
          <a:p>
            <a:pPr>
              <a:spcAft>
                <a:spcPts val="800"/>
              </a:spcAft>
              <a:defRPr sz="950">
                <a:solidFill>
                  <a:srgbClr val="475569"/>
                </a:solidFill>
                <a:latin typeface="Arial"/>
              </a:defRPr>
            </a:pPr>
            <a:r>
              <a:t>    Identifies hidden cardiovascular risk factors during routine outpatient checkups.</a:t>
            </a:r>
          </a:p>
          <a:p>
            <a:pPr>
              <a:spcAft>
                <a:spcPts val="200"/>
              </a:spcAft>
              <a:defRPr sz="1050" b="1">
                <a:solidFill>
                  <a:srgbClr val="0F172A"/>
                </a:solidFill>
                <a:latin typeface="Arial"/>
              </a:defRPr>
            </a:pPr>
            <a:r>
              <a:t>✓  Transparent Reasoning:</a:t>
            </a:r>
          </a:p>
          <a:p>
            <a:pPr>
              <a:spcAft>
                <a:spcPts val="800"/>
              </a:spcAft>
              <a:defRPr sz="950">
                <a:solidFill>
                  <a:srgbClr val="475569"/>
                </a:solidFill>
                <a:latin typeface="Arial"/>
              </a:defRPr>
            </a:pPr>
            <a:r>
              <a:t>    SHAP feature attributions build clinician trust in AI assistive scores.</a:t>
            </a:r>
          </a:p>
          <a:p>
            <a:pPr>
              <a:spcAft>
                <a:spcPts val="200"/>
              </a:spcAft>
              <a:defRPr sz="1050" b="1">
                <a:solidFill>
                  <a:srgbClr val="0F172A"/>
                </a:solidFill>
                <a:latin typeface="Arial"/>
              </a:defRPr>
            </a:pPr>
            <a:r>
              <a:t>✓  Preventative Counseling:</a:t>
            </a:r>
          </a:p>
          <a:p>
            <a:pPr>
              <a:spcAft>
                <a:spcPts val="800"/>
              </a:spcAft>
              <a:defRPr sz="950">
                <a:solidFill>
                  <a:srgbClr val="475569"/>
                </a:solidFill>
                <a:latin typeface="Arial"/>
              </a:defRPr>
            </a:pPr>
            <a:r>
              <a:t>    'What-If' simulations help doctors visually demonstrate the benefits of lifestyle changes.</a:t>
            </a:r>
          </a:p>
          <a:p>
            <a:pPr>
              <a:spcAft>
                <a:spcPts val="200"/>
              </a:spcAft>
              <a:defRPr sz="1050" b="1">
                <a:solidFill>
                  <a:srgbClr val="0F172A"/>
                </a:solidFill>
                <a:latin typeface="Arial"/>
              </a:defRPr>
            </a:pPr>
            <a:r>
              <a:t>✓  Zero Diagnostic Substitution:</a:t>
            </a:r>
          </a:p>
          <a:p>
            <a:pPr>
              <a:spcAft>
                <a:spcPts val="800"/>
              </a:spcAft>
              <a:defRPr sz="950">
                <a:solidFill>
                  <a:srgbClr val="475569"/>
                </a:solidFill>
                <a:latin typeface="Arial"/>
              </a:defRPr>
            </a:pPr>
            <a:r>
              <a:t>    Strict ethical guardrails prevent unauthorized automated diagnoses.</a:t>
            </a:r>
          </a:p>
        </p:txBody>
      </p:sp>
      <p:sp>
        <p:nvSpPr>
          <p:cNvPr id="14" name="Rounded Rectangle 13"/>
          <p:cNvSpPr/>
          <p:nvPr/>
        </p:nvSpPr>
        <p:spPr>
          <a:xfrm>
            <a:off x="8065008" y="1371600"/>
            <a:ext cx="3383280" cy="484632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47888" y="1600200"/>
            <a:ext cx="3017520" cy="384048"/>
          </a:xfrm>
          <a:prstGeom prst="round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D97706"/>
                </a:solidFill>
                <a:latin typeface="Arial"/>
              </a:defRPr>
            </a:pPr>
            <a:r>
              <a:t>ENTERPRISE READINESS</a:t>
            </a:r>
          </a:p>
        </p:txBody>
      </p:sp>
      <p:sp>
        <p:nvSpPr>
          <p:cNvPr id="16" name="TextBox 15"/>
          <p:cNvSpPr txBox="1"/>
          <p:nvPr/>
        </p:nvSpPr>
        <p:spPr>
          <a:xfrm>
            <a:off x="8247888"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Sub-250ms API Latency:</a:t>
            </a:r>
          </a:p>
          <a:p>
            <a:pPr>
              <a:spcAft>
                <a:spcPts val="800"/>
              </a:spcAft>
              <a:defRPr sz="950">
                <a:solidFill>
                  <a:srgbClr val="475569"/>
                </a:solidFill>
                <a:latin typeface="Arial"/>
              </a:defRPr>
            </a:pPr>
            <a:r>
              <a:t>    High-throughput asynchronous FastAPI routes ensure responsive user interactions.</a:t>
            </a:r>
          </a:p>
          <a:p>
            <a:pPr>
              <a:spcAft>
                <a:spcPts val="200"/>
              </a:spcAft>
              <a:defRPr sz="1050" b="1">
                <a:solidFill>
                  <a:srgbClr val="0F172A"/>
                </a:solidFill>
                <a:latin typeface="Arial"/>
              </a:defRPr>
            </a:pPr>
            <a:r>
              <a:t>✓  100% Audit Coverage:</a:t>
            </a:r>
          </a:p>
          <a:p>
            <a:pPr>
              <a:spcAft>
                <a:spcPts val="800"/>
              </a:spcAft>
              <a:defRPr sz="950">
                <a:solidFill>
                  <a:srgbClr val="475569"/>
                </a:solidFill>
                <a:latin typeface="Arial"/>
              </a:defRPr>
            </a:pPr>
            <a:r>
              <a:t>    Complete HIPAA-aligned logging of every access to Protected Health Information.</a:t>
            </a:r>
          </a:p>
          <a:p>
            <a:pPr>
              <a:spcAft>
                <a:spcPts val="200"/>
              </a:spcAft>
              <a:defRPr sz="1050" b="1">
                <a:solidFill>
                  <a:srgbClr val="0F172A"/>
                </a:solidFill>
                <a:latin typeface="Arial"/>
              </a:defRPr>
            </a:pPr>
            <a:r>
              <a:t>✓  Scalable Architecture:</a:t>
            </a:r>
          </a:p>
          <a:p>
            <a:pPr>
              <a:spcAft>
                <a:spcPts val="800"/>
              </a:spcAft>
              <a:defRPr sz="950">
                <a:solidFill>
                  <a:srgbClr val="475569"/>
                </a:solidFill>
                <a:latin typeface="Arial"/>
              </a:defRPr>
            </a:pPr>
            <a:r>
              <a:t>    Decoupled 6-module architecture easily transitions into distributed microservices.</a:t>
            </a:r>
          </a:p>
          <a:p>
            <a:pPr>
              <a:spcAft>
                <a:spcPts val="200"/>
              </a:spcAft>
              <a:defRPr sz="1050" b="1">
                <a:solidFill>
                  <a:srgbClr val="0F172A"/>
                </a:solidFill>
                <a:latin typeface="Arial"/>
              </a:defRPr>
            </a:pPr>
            <a:r>
              <a:t>✓  Reliable Data Modeling:</a:t>
            </a:r>
          </a:p>
          <a:p>
            <a:pPr>
              <a:spcAft>
                <a:spcPts val="800"/>
              </a:spcAft>
              <a:defRPr sz="950">
                <a:solidFill>
                  <a:srgbClr val="475569"/>
                </a:solidFill>
                <a:latin typeface="Arial"/>
              </a:defRPr>
            </a:pPr>
            <a:r>
              <a:t>    PostgreSQL ensures zero orphaned medical records or corrupted histories.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9144000" cy="292608"/>
          </a:xfrm>
          <a:prstGeom prst="rect">
            <a:avLst/>
          </a:prstGeom>
          <a:noFill/>
        </p:spPr>
        <p:txBody>
          <a:bodyPr wrap="square" lIns="0" tIns="0" rIns="0" bIns="0">
            <a:spAutoFit/>
          </a:bodyPr>
          <a:lstStyle/>
          <a:p>
            <a:pPr>
              <a:defRPr sz="1000" b="1">
                <a:solidFill>
                  <a:srgbClr val="0D9488"/>
                </a:solidFill>
                <a:latin typeface="Arial"/>
              </a:defRPr>
            </a:pPr>
            <a:r>
              <a:t>ROADMAP &amp; CONCLUSION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pPr>
              <a:defRPr sz="2100" b="1">
                <a:solidFill>
                  <a:srgbClr val="0F172A"/>
                </a:solidFill>
                <a:latin typeface="Arial"/>
              </a:defRPr>
            </a:pPr>
            <a:r>
              <a:t>Technological Roadmap &amp; Project Conclusion</a:t>
            </a:r>
          </a:p>
        </p:txBody>
      </p:sp>
      <p:sp>
        <p:nvSpPr>
          <p:cNvPr id="6" name="Rounded Rectangle 5"/>
          <p:cNvSpPr/>
          <p:nvPr/>
        </p:nvSpPr>
        <p:spPr>
          <a:xfrm>
            <a:off x="10607040" y="365760"/>
            <a:ext cx="868680" cy="32004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latin typeface="Arial"/>
              </a:defRPr>
            </a:pPr>
            <a:r>
              <a:t>12 / 12</a:t>
            </a:r>
          </a:p>
        </p:txBody>
      </p:sp>
      <p:sp>
        <p:nvSpPr>
          <p:cNvPr id="7" name="TextBox 6"/>
          <p:cNvSpPr txBox="1"/>
          <p:nvPr/>
        </p:nvSpPr>
        <p:spPr>
          <a:xfrm>
            <a:off x="731520" y="6473952"/>
            <a:ext cx="10728655" cy="256032"/>
          </a:xfrm>
          <a:prstGeom prst="rect">
            <a:avLst/>
          </a:prstGeom>
          <a:noFill/>
        </p:spPr>
        <p:txBody>
          <a:bodyPr wrap="none" lIns="0" tIns="0" rIns="0" bIns="0">
            <a:spAutoFit/>
          </a:bodyPr>
          <a:lstStyle/>
          <a:p>
            <a:pPr>
              <a:defRPr sz="850">
                <a:solidFill>
                  <a:srgbClr val="64748B"/>
                </a:solidFill>
                <a:latin typeface="Arial"/>
              </a:defRPr>
            </a:pPr>
            <a:r>
              <a:t>MediFlow  •  Intelligent Healthcare Management &amp; Clinical Decision Support System  •  6 Modular Architecture</a:t>
            </a:r>
          </a:p>
        </p:txBody>
      </p:sp>
      <p:sp>
        <p:nvSpPr>
          <p:cNvPr id="8" name="Rounded Rectangle 7"/>
          <p:cNvSpPr/>
          <p:nvPr/>
        </p:nvSpPr>
        <p:spPr>
          <a:xfrm>
            <a:off x="731520" y="1371600"/>
            <a:ext cx="3383280" cy="4846320"/>
          </a:xfrm>
          <a:prstGeom prst="roundRect">
            <a:avLst/>
          </a:prstGeom>
          <a:solidFill>
            <a:srgbClr val="FFFF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600200"/>
            <a:ext cx="3017520" cy="384048"/>
          </a:xfrm>
          <a:prstGeom prst="roundRect">
            <a:avLst/>
          </a:prstGeom>
          <a:solidFill>
            <a:srgbClr val="F0F9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284C7"/>
                </a:solidFill>
                <a:latin typeface="Arial"/>
              </a:defRPr>
            </a:pPr>
            <a:r>
              <a:t>FUTURE ROADMAP</a:t>
            </a:r>
          </a:p>
        </p:txBody>
      </p:sp>
      <p:sp>
        <p:nvSpPr>
          <p:cNvPr id="10" name="TextBox 9"/>
          <p:cNvSpPr txBox="1"/>
          <p:nvPr/>
        </p:nvSpPr>
        <p:spPr>
          <a:xfrm>
            <a:off x="914400"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Deep Learning Imaging:</a:t>
            </a:r>
          </a:p>
          <a:p>
            <a:pPr>
              <a:spcAft>
                <a:spcPts val="800"/>
              </a:spcAft>
              <a:defRPr sz="950">
                <a:solidFill>
                  <a:srgbClr val="475569"/>
                </a:solidFill>
                <a:latin typeface="Arial"/>
              </a:defRPr>
            </a:pPr>
            <a:r>
              <a:t>    Expand CDSS with PyTorch ResNet models for chest X-ray and CT-scan triage.</a:t>
            </a:r>
          </a:p>
          <a:p>
            <a:pPr>
              <a:spcAft>
                <a:spcPts val="200"/>
              </a:spcAft>
              <a:defRPr sz="1050" b="1">
                <a:solidFill>
                  <a:srgbClr val="0F172A"/>
                </a:solidFill>
                <a:latin typeface="Arial"/>
              </a:defRPr>
            </a:pPr>
            <a:r>
              <a:t>•  Clinical NLP Extraction:</a:t>
            </a:r>
          </a:p>
          <a:p>
            <a:pPr>
              <a:spcAft>
                <a:spcPts val="800"/>
              </a:spcAft>
              <a:defRPr sz="950">
                <a:solidFill>
                  <a:srgbClr val="475569"/>
                </a:solidFill>
                <a:latin typeface="Arial"/>
              </a:defRPr>
            </a:pPr>
            <a:r>
              <a:t>    Utilize BioBERT to parse unstructured PDF lab reports into structured EMR data.</a:t>
            </a:r>
          </a:p>
          <a:p>
            <a:pPr>
              <a:spcAft>
                <a:spcPts val="200"/>
              </a:spcAft>
              <a:defRPr sz="1050" b="1">
                <a:solidFill>
                  <a:srgbClr val="0F172A"/>
                </a:solidFill>
                <a:latin typeface="Arial"/>
              </a:defRPr>
            </a:pPr>
            <a:r>
              <a:t>•  FHIR / HL7 Interoperability:</a:t>
            </a:r>
          </a:p>
          <a:p>
            <a:pPr>
              <a:spcAft>
                <a:spcPts val="800"/>
              </a:spcAft>
              <a:defRPr sz="950">
                <a:solidFill>
                  <a:srgbClr val="475569"/>
                </a:solidFill>
                <a:latin typeface="Arial"/>
              </a:defRPr>
            </a:pPr>
            <a:r>
              <a:t>    Integrate with legacy hospital EHRs using standard healthcare interoperability protocols.</a:t>
            </a:r>
          </a:p>
          <a:p>
            <a:pPr>
              <a:spcAft>
                <a:spcPts val="200"/>
              </a:spcAft>
              <a:defRPr sz="1050" b="1">
                <a:solidFill>
                  <a:srgbClr val="0F172A"/>
                </a:solidFill>
                <a:latin typeface="Arial"/>
              </a:defRPr>
            </a:pPr>
            <a:r>
              <a:t>•  Telemedicine Video Engine:</a:t>
            </a:r>
          </a:p>
          <a:p>
            <a:pPr>
              <a:spcAft>
                <a:spcPts val="800"/>
              </a:spcAft>
              <a:defRPr sz="950">
                <a:solidFill>
                  <a:srgbClr val="475569"/>
                </a:solidFill>
                <a:latin typeface="Arial"/>
              </a:defRPr>
            </a:pPr>
            <a:r>
              <a:t>    Embed secure WebRTC video consultations directly into the doctor-patient interface.</a:t>
            </a:r>
          </a:p>
        </p:txBody>
      </p:sp>
      <p:sp>
        <p:nvSpPr>
          <p:cNvPr id="11" name="Rounded Rectangle 10"/>
          <p:cNvSpPr/>
          <p:nvPr/>
        </p:nvSpPr>
        <p:spPr>
          <a:xfrm>
            <a:off x="4398264" y="1371600"/>
            <a:ext cx="3383280" cy="4846320"/>
          </a:xfrm>
          <a:prstGeom prst="roundRect">
            <a:avLst/>
          </a:prstGeom>
          <a:solidFill>
            <a:srgbClr val="FFFFFF"/>
          </a:solidFill>
          <a:ln w="1524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1144" y="1600200"/>
            <a:ext cx="3017520"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D9488"/>
                </a:solidFill>
                <a:latin typeface="Arial"/>
              </a:defRPr>
            </a:pPr>
            <a:r>
              <a:t>PROJECT SUMMARY</a:t>
            </a:r>
          </a:p>
        </p:txBody>
      </p:sp>
      <p:sp>
        <p:nvSpPr>
          <p:cNvPr id="13" name="TextBox 12"/>
          <p:cNvSpPr txBox="1"/>
          <p:nvPr/>
        </p:nvSpPr>
        <p:spPr>
          <a:xfrm>
            <a:off x="4581144"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6 Robust Modules:</a:t>
            </a:r>
          </a:p>
          <a:p>
            <a:pPr>
              <a:spcAft>
                <a:spcPts val="800"/>
              </a:spcAft>
              <a:defRPr sz="950">
                <a:solidFill>
                  <a:srgbClr val="475569"/>
                </a:solidFill>
                <a:latin typeface="Arial"/>
              </a:defRPr>
            </a:pPr>
            <a:r>
              <a:t>    Clean separation of Identity, Scheduling, EMR, CDSS, Operations, and Governance.</a:t>
            </a:r>
          </a:p>
          <a:p>
            <a:pPr>
              <a:spcAft>
                <a:spcPts val="200"/>
              </a:spcAft>
              <a:defRPr sz="1050" b="1">
                <a:solidFill>
                  <a:srgbClr val="0F172A"/>
                </a:solidFill>
                <a:latin typeface="Arial"/>
              </a:defRPr>
            </a:pPr>
            <a:r>
              <a:t>•  Full-Stack Modern Stack:</a:t>
            </a:r>
          </a:p>
          <a:p>
            <a:pPr>
              <a:spcAft>
                <a:spcPts val="800"/>
              </a:spcAft>
              <a:defRPr sz="950">
                <a:solidFill>
                  <a:srgbClr val="475569"/>
                </a:solidFill>
                <a:latin typeface="Arial"/>
              </a:defRPr>
            </a:pPr>
            <a:r>
              <a:t>    React.js frontend, FastAPI backend, PostgreSQL database, Scikit-learn AI.</a:t>
            </a:r>
          </a:p>
          <a:p>
            <a:pPr>
              <a:spcAft>
                <a:spcPts val="200"/>
              </a:spcAft>
              <a:defRPr sz="1050" b="1">
                <a:solidFill>
                  <a:srgbClr val="0F172A"/>
                </a:solidFill>
                <a:latin typeface="Arial"/>
              </a:defRPr>
            </a:pPr>
            <a:r>
              <a:t>•  Explainable by Design:</a:t>
            </a:r>
          </a:p>
          <a:p>
            <a:pPr>
              <a:spcAft>
                <a:spcPts val="800"/>
              </a:spcAft>
              <a:defRPr sz="950">
                <a:solidFill>
                  <a:srgbClr val="475569"/>
                </a:solidFill>
                <a:latin typeface="Arial"/>
              </a:defRPr>
            </a:pPr>
            <a:r>
              <a:t>    Transparent SHAP biometric attribution solves the AI 'black box' challenge.</a:t>
            </a:r>
          </a:p>
          <a:p>
            <a:pPr>
              <a:spcAft>
                <a:spcPts val="200"/>
              </a:spcAft>
              <a:defRPr sz="1050" b="1">
                <a:solidFill>
                  <a:srgbClr val="0F172A"/>
                </a:solidFill>
                <a:latin typeface="Arial"/>
              </a:defRPr>
            </a:pPr>
            <a:r>
              <a:t>•  Production-Grade Design:</a:t>
            </a:r>
          </a:p>
          <a:p>
            <a:pPr>
              <a:spcAft>
                <a:spcPts val="800"/>
              </a:spcAft>
              <a:defRPr sz="950">
                <a:solidFill>
                  <a:srgbClr val="475569"/>
                </a:solidFill>
                <a:latin typeface="Arial"/>
              </a:defRPr>
            </a:pPr>
            <a:r>
              <a:t>    Adheres to enterprise security patterns, ACID guarantees, and responsive UI.</a:t>
            </a:r>
          </a:p>
        </p:txBody>
      </p:sp>
      <p:sp>
        <p:nvSpPr>
          <p:cNvPr id="14" name="Rounded Rectangle 13"/>
          <p:cNvSpPr/>
          <p:nvPr/>
        </p:nvSpPr>
        <p:spPr>
          <a:xfrm>
            <a:off x="8065008" y="1371600"/>
            <a:ext cx="33832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47888" y="1600200"/>
            <a:ext cx="3017520" cy="38404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F172A"/>
                </a:solidFill>
                <a:latin typeface="Arial"/>
              </a:defRPr>
            </a:pPr>
            <a:r>
              <a:t>Q&amp;A &amp; DISCUSSION</a:t>
            </a:r>
          </a:p>
        </p:txBody>
      </p:sp>
      <p:sp>
        <p:nvSpPr>
          <p:cNvPr id="16" name="TextBox 15"/>
          <p:cNvSpPr txBox="1"/>
          <p:nvPr/>
        </p:nvSpPr>
        <p:spPr>
          <a:xfrm>
            <a:off x="8247888" y="2148840"/>
            <a:ext cx="3017520" cy="3749039"/>
          </a:xfrm>
          <a:prstGeom prst="rect">
            <a:avLst/>
          </a:prstGeom>
          <a:noFill/>
        </p:spPr>
        <p:txBody>
          <a:bodyPr wrap="square" lIns="0" tIns="0" rIns="0" bIns="0">
            <a:spAutoFit/>
          </a:bodyPr>
          <a:lstStyle/>
          <a:p>
            <a:pPr>
              <a:spcAft>
                <a:spcPts val="200"/>
              </a:spcAft>
              <a:defRPr sz="1050" b="1">
                <a:solidFill>
                  <a:srgbClr val="0F172A"/>
                </a:solidFill>
                <a:latin typeface="Arial"/>
              </a:defRPr>
            </a:pPr>
            <a:r>
              <a:t>•  Thank You:</a:t>
            </a:r>
          </a:p>
          <a:p>
            <a:pPr>
              <a:spcAft>
                <a:spcPts val="800"/>
              </a:spcAft>
              <a:defRPr sz="950">
                <a:solidFill>
                  <a:srgbClr val="475569"/>
                </a:solidFill>
                <a:latin typeface="Arial"/>
              </a:defRPr>
            </a:pPr>
            <a:r>
              <a:t>    Thank you for your time and engagement.</a:t>
            </a:r>
          </a:p>
          <a:p>
            <a:pPr>
              <a:spcAft>
                <a:spcPts val="200"/>
              </a:spcAft>
              <a:defRPr sz="1050" b="1">
                <a:solidFill>
                  <a:srgbClr val="0F172A"/>
                </a:solidFill>
                <a:latin typeface="Arial"/>
              </a:defRPr>
            </a:pPr>
            <a:r>
              <a:t>•  Open Discussion:</a:t>
            </a:r>
          </a:p>
          <a:p>
            <a:pPr>
              <a:spcAft>
                <a:spcPts val="800"/>
              </a:spcAft>
              <a:defRPr sz="950">
                <a:solidFill>
                  <a:srgbClr val="475569"/>
                </a:solidFill>
                <a:latin typeface="Arial"/>
              </a:defRPr>
            </a:pPr>
            <a:r>
              <a:t>    Questions, technical demonstrations, and feedback are welcome.</a:t>
            </a:r>
          </a:p>
          <a:p>
            <a:pPr>
              <a:spcAft>
                <a:spcPts val="200"/>
              </a:spcAft>
              <a:defRPr sz="1050" b="1">
                <a:solidFill>
                  <a:srgbClr val="0F172A"/>
                </a:solidFill>
                <a:latin typeface="Arial"/>
              </a:defRPr>
            </a:pPr>
            <a:r>
              <a:t>•  Repository Deliverables:</a:t>
            </a:r>
          </a:p>
          <a:p>
            <a:pPr>
              <a:spcAft>
                <a:spcPts val="800"/>
              </a:spcAft>
              <a:defRPr sz="950">
                <a:solidFill>
                  <a:srgbClr val="475569"/>
                </a:solidFill>
                <a:latin typeface="Arial"/>
              </a:defRPr>
            </a:pPr>
            <a:r>
              <a:t>    Full source code, interactive presentation deck, and comprehensive README documentation.</a:t>
            </a:r>
          </a:p>
          <a:p>
            <a:pPr>
              <a:spcAft>
                <a:spcPts val="200"/>
              </a:spcAft>
              <a:defRPr sz="1050" b="1">
                <a:solidFill>
                  <a:srgbClr val="0F172A"/>
                </a:solidFill>
                <a:latin typeface="Arial"/>
              </a:defRPr>
            </a:pPr>
            <a:r>
              <a:t>•  System Ready:</a:t>
            </a:r>
          </a:p>
          <a:p>
            <a:pPr>
              <a:spcAft>
                <a:spcPts val="800"/>
              </a:spcAft>
              <a:defRPr sz="950">
                <a:solidFill>
                  <a:srgbClr val="475569"/>
                </a:solidFill>
                <a:latin typeface="Arial"/>
              </a:defRPr>
            </a:pPr>
            <a:r>
              <a:t>    MediFlow is engineered for modern, resilient healthcare delivery.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